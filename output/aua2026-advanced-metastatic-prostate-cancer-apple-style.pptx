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686207969d4bb5" /><Relationship Type="http://schemas.openxmlformats.org/officeDocument/2006/relationships/extended-properties" Target="/docProps/app.xml" Id="R79510b031dda4c20" /><Relationship Type="http://schemas.openxmlformats.org/officeDocument/2006/relationships/officeDocument" Target="/ppt/presentation.xml" Id="Ra66362624ca64e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788eba9f1f45f1"/>
  </p:sldMasterIdLst>
  <p:notesMasterIdLst>
    <p:notesMasterId xmlns:r="http://schemas.openxmlformats.org/officeDocument/2006/relationships" r:id="R0d868cafc2cb4dc7"/>
  </p:notesMasterIdLst>
  <p:sldIdLst>
    <p:sldId xmlns:r="http://schemas.openxmlformats.org/officeDocument/2006/relationships" id="256" r:id="Raadb760b89334c86"/>
    <p:sldId xmlns:r="http://schemas.openxmlformats.org/officeDocument/2006/relationships" id="257" r:id="R93c13e2c36184706"/>
    <p:sldId xmlns:r="http://schemas.openxmlformats.org/officeDocument/2006/relationships" id="258" r:id="Rc062b8e801054e11"/>
    <p:sldId xmlns:r="http://schemas.openxmlformats.org/officeDocument/2006/relationships" id="259" r:id="R7676d64d89ec4e7f"/>
    <p:sldId xmlns:r="http://schemas.openxmlformats.org/officeDocument/2006/relationships" id="260" r:id="R2dafd2cfcf974138"/>
    <p:sldId xmlns:r="http://schemas.openxmlformats.org/officeDocument/2006/relationships" id="261" r:id="R38d0b21444c94057"/>
    <p:sldId xmlns:r="http://schemas.openxmlformats.org/officeDocument/2006/relationships" id="262" r:id="Re4666c90583e45fc"/>
    <p:sldId xmlns:r="http://schemas.openxmlformats.org/officeDocument/2006/relationships" id="263" r:id="R4aa46af17fc94d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88eba9f1f45f1" /><Relationship Type="http://schemas.openxmlformats.org/officeDocument/2006/relationships/theme" Target="/ppt/theme/theme1.xml" Id="R3f1014b1ad1e445d" /><Relationship Type="http://schemas.openxmlformats.org/officeDocument/2006/relationships/notesMaster" Target="/ppt/notesMasters/notesMaster1.xml" Id="R0d868cafc2cb4dc7" /><Relationship Type="http://schemas.openxmlformats.org/officeDocument/2006/relationships/presProps" Target="/ppt/presProps.xml" Id="Rbf9cc97a693a4cab" /><Relationship Type="http://schemas.openxmlformats.org/officeDocument/2006/relationships/viewProps" Target="/ppt/viewProps.xml" Id="R124f675063e24887" /><Relationship Type="http://schemas.openxmlformats.org/officeDocument/2006/relationships/tableStyles" Target="/ppt/tableStyles.xml" Id="R918dfe931acf4dd4" /><Relationship Type="http://schemas.openxmlformats.org/officeDocument/2006/relationships/slide" Target="/ppt/slides/slide1.xml" Id="Raadb760b89334c86" /><Relationship Type="http://schemas.openxmlformats.org/officeDocument/2006/relationships/slide" Target="/ppt/slides/slide2.xml" Id="R93c13e2c36184706" /><Relationship Type="http://schemas.openxmlformats.org/officeDocument/2006/relationships/slide" Target="/ppt/slides/slide3.xml" Id="Rc062b8e801054e11" /><Relationship Type="http://schemas.openxmlformats.org/officeDocument/2006/relationships/slide" Target="/ppt/slides/slide4.xml" Id="R7676d64d89ec4e7f" /><Relationship Type="http://schemas.openxmlformats.org/officeDocument/2006/relationships/slide" Target="/ppt/slides/slide5.xml" Id="R2dafd2cfcf974138" /><Relationship Type="http://schemas.openxmlformats.org/officeDocument/2006/relationships/slide" Target="/ppt/slides/slide6.xml" Id="R38d0b21444c94057" /><Relationship Type="http://schemas.openxmlformats.org/officeDocument/2006/relationships/slide" Target="/ppt/slides/slide7.xml" Id="Re4666c90583e45fc" /><Relationship Type="http://schemas.openxmlformats.org/officeDocument/2006/relationships/slide" Target="/ppt/slides/slide8.xml" Id="R4aa46af17fc94d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ae7ac6b017540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36890a697d458a" /><Relationship Type="http://schemas.openxmlformats.org/officeDocument/2006/relationships/notesMaster" Target="/ppt/notesMasters/notesMaster1.xml" Id="Rbe35c984d40f40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536afb5d84a5b" /><Relationship Type="http://schemas.openxmlformats.org/officeDocument/2006/relationships/notesMaster" Target="/ppt/notesMasters/notesMaster1.xml" Id="Rd5fc67d3ea8e41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c08dfbfb84be2" /><Relationship Type="http://schemas.openxmlformats.org/officeDocument/2006/relationships/notesMaster" Target="/ppt/notesMasters/notesMaster1.xml" Id="Rdb460726c11041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5cb45fd6dc4f87" /><Relationship Type="http://schemas.openxmlformats.org/officeDocument/2006/relationships/notesMaster" Target="/ppt/notesMasters/notesMaster1.xml" Id="R57eb2096d3634a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a5d6832be44b5a" /><Relationship Type="http://schemas.openxmlformats.org/officeDocument/2006/relationships/notesMaster" Target="/ppt/notesMasters/notesMaster1.xml" Id="R4364246045c141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38d1a02de84d9c" /><Relationship Type="http://schemas.openxmlformats.org/officeDocument/2006/relationships/notesMaster" Target="/ppt/notesMasters/notesMaster1.xml" Id="Rf38713e2f08042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e7a87113aa490b" /><Relationship Type="http://schemas.openxmlformats.org/officeDocument/2006/relationships/notesMaster" Target="/ppt/notesMasters/notesMaster1.xml" Id="Rfe878662144a46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292c1cc11f4d52" /><Relationship Type="http://schemas.openxmlformats.org/officeDocument/2006/relationships/notesMaster" Target="/ppt/notesMasters/notesMaster1.xml" Id="Re41f27cc860643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72c14bd684d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4b148cc3e4f4cb4" /><Relationship Type="http://schemas.openxmlformats.org/officeDocument/2006/relationships/slideLayout" Target="/ppt/slideLayouts/slideLayout2.xml" Id="Rc32701acb392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2701acb392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30015417e94fe1" /><Relationship Type="http://schemas.openxmlformats.org/officeDocument/2006/relationships/notesSlide" Target="/ppt/notesSlides/notesSlide1.xml" Id="Re9eebf3727924b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4c6bf87dba4222" /><Relationship Type="http://schemas.openxmlformats.org/officeDocument/2006/relationships/notesSlide" Target="/ppt/notesSlides/notesSlide2.xml" Id="Rb1da9710521941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0d2efe6b1a41c4" /><Relationship Type="http://schemas.openxmlformats.org/officeDocument/2006/relationships/notesSlide" Target="/ppt/notesSlides/notesSlide3.xml" Id="Rf4a41d4f41164a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1f6bc1206e4c14" /><Relationship Type="http://schemas.openxmlformats.org/officeDocument/2006/relationships/notesSlide" Target="/ppt/notesSlides/notesSlide4.xml" Id="R1aee8e758b6b4e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d9fef2c4464b68" /><Relationship Type="http://schemas.openxmlformats.org/officeDocument/2006/relationships/notesSlide" Target="/ppt/notesSlides/notesSlide5.xml" Id="R02a0195ac0d44e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4d12e98512422b" /><Relationship Type="http://schemas.openxmlformats.org/officeDocument/2006/relationships/notesSlide" Target="/ppt/notesSlides/notesSlide6.xml" Id="R4b39f795c6e7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8513ba602d4726" /><Relationship Type="http://schemas.openxmlformats.org/officeDocument/2006/relationships/notesSlide" Target="/ppt/notesSlides/notesSlide7.xml" Id="R961db4429bdc46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e73ee0c4944e8e" /><Relationship Type="http://schemas.openxmlformats.org/officeDocument/2006/relationships/notesSlide" Target="/ppt/notesSlides/notesSlide8.xml" Id="R63d52660b54043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B708A-DD94-4666-BE0D-2EA94536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87B90E-1737-4821-AE88-90986C85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3EE3707-3075-42B8-8E68-7897452B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AUA 2026 · ADVANCED PROSTATE CANCER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3AEFC-E312-4976-B692-CA22FE1F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23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Advanced &amp;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Metastatic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Prostate Cancer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47087-C0A9-494A-8B90-EEC4C81E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 conference update for urology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12042-AEFA-4756-88E4-1A1A806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329E2-00DE-4146-B694-BF3813F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52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8E75B-AAD7-4CA3-96B8-4647A814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advanced / drug-therapy abstract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47B5B-CE39-469D-8823-08BA7F89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F713A-F10A-4964-BA3B-FA744D19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advanced prostate cancer abstract 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A61AF-8094-44AC-98FE-0C319116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6A94F-9DDF-4127-A706-D4AB260A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AUA/SUO guideline amendment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8088F-D3A0-4784-B548-1DB3BBC6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1719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8E796-FBB9-407D-B12F-8659CE09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Prepared 2026-05-16 ET. PD23 and IP73 include scheduled / available abstract material; not post-session Q&amp;A.</a:t>
            </a:r>
          </a:p>
        </p:txBody>
      </p:sp>
    </p:spTree>
    <p:extLst>
      <p:ext uri="{BB962C8B-B14F-4D97-AF65-F5344CB8AC3E}">
        <p14:creationId xmlns:p14="http://schemas.microsoft.com/office/powerpoint/2010/main" val="18617720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5174E-D469-4B59-8B4E-663E04AC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A65A7E-617F-459A-B77B-E9CB91B6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0D90B9-C9B3-4B53-888F-8CB3F21D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CLAIM SPINE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780FB-6C26-49ED-8B5F-AF7ED7D8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33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update is not one drug.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It is a clinic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00FFC-AE2C-4E7D-B644-A0159FEC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AUA 2026 pushes advanced prostate cancer from “which agent?” toward a biomarker-driven, toxicity-aware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3F6FA-50B4-49FD-85C0-469FD808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E38A8-3604-4F85-AABF-7E540CDC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38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F3E18-7EA9-4861-96CD-9B20FE7F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mHSPC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4811F-0088-41C2-8676-81A07653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Intensify early, but reserve triplet for selected high-volume / fit patients.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A19A1-AB5E-4F05-89C0-3DF8F2D7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3A2CD-68BD-4AAD-9A28-045759FF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72954-75FE-4079-9220-A947785C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PSMA / RLT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B109F-04AE-4734-82FB-E23E9B3D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291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PSMA PET and Lu-PSMA move earlier, while post-RLT monitoring becomes less binary.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7F0C1-AA6D-437E-AD1F-3A12F084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A776A-7C99-4488-A23F-0939053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19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49E35-3A1C-4977-92C6-DF917A4B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mCRPC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04F04-E8D2-4013-9BD5-F6508FBF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196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HRR / BRCA interpretation shifts from mutation present to variant-level clinical meaning.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8D3FA-A3DD-488C-BBE0-5ACDF1C1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FB5A8-A468-4407-A56E-F7405D4A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02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28D63-3ED6-431F-8635-9C9FA2D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721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Clinic 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9946F-376D-4606-AD96-F8F4459A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102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Bone, CV, metabolic, anemia, exercise, and preference work decide real-world benefit.</a:t>
            </a:r>
          </a:p>
        </p:txBody>
      </p:sp>
    </p:spTree>
    <p:extLst>
      <p:ext uri="{BB962C8B-B14F-4D97-AF65-F5344CB8AC3E}">
        <p14:creationId xmlns:p14="http://schemas.microsoft.com/office/powerpoint/2010/main" val="4847113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3C315-908F-4D7F-8720-D1A4F78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61921B-A9D1-4526-BB0F-9F194A81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B959998-E77F-49A7-BB36-81938E56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MHSPC TREATMENT INTENSIFICATION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C30FF-BB52-4432-A9AB-ABDF7B3A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ADT alone is shrinking.</a:t>
            </a:r>
          </a:p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Triplet is not automatic.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6FE4A-A059-42F8-AC91-D30C58E8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895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Real-world uptake supports early intensification, but Bayesian and registry signals keep triplet therapy patient-selected.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145DA-597F-4F9D-B287-3FC7DAD2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Upfront doublet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44002-4ED2-4ED8-A7A4-442DE5B8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4CD3D-EF98-4651-B471-5E4BF0E5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45577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E1507-6174-4D79-99AD-54EBAF3C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19% → 66%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C7682-E5E6-45E5-B505-9F91E88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Triplet therapy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8EC01-D7E0-4461-8357-CA948DCB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C1679-3642-42D3-870E-5F662838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17395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DB89C-E872-40BB-9C55-C215B347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4% → 17%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2CC91-2D12-4676-B43F-FE919727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3-year 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ED91A-4456-48B2-AE95-9A21C7FA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51FF3-53F2-47B0-AAE8-54E218BF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531733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BBA96-3ACF-4878-9939-74AE955F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053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69% → 77%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20034-156E-42F3-87BD-9B8A3CDB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Default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D28E5-6382-49EE-8FEC-D8119EAA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38800"/>
            <a:ext cx="771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ADT + ARPI doublet for most; triplet for fit, de novo, high-volume disease with unfavorable early response.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F943D-CED1-474E-87D0-2259FEC1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Local abstract anchors: IP38-12, IP38-13, IP73-01, IP73-03.</a:t>
            </a:r>
          </a:p>
        </p:txBody>
      </p:sp>
    </p:spTree>
    <p:extLst>
      <p:ext uri="{BB962C8B-B14F-4D97-AF65-F5344CB8AC3E}">
        <p14:creationId xmlns:p14="http://schemas.microsoft.com/office/powerpoint/2010/main" val="5080662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DE143D-6A0A-4739-834F-A90904ED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BA6F454-65A2-47C1-9014-4BA9895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91AAF3-0C3A-4C05-B4FE-0F8BC80B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TREATMENT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7B800-1EFD-417A-B945-97FCD7BD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Triplet therapy needs a selection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CDB01-1BAD-4E02-850F-F7C3F290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476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17C1E-F4C7-4133-A661-7BADD717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4476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1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5D9B2-2D79-4CE4-B425-90E93BAF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E6E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E3A7C-BCA8-4199-94CF-6BE1FE7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DEFAULT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D03E6-A64B-413B-A1DA-B17603D9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ADT + ARPI</a:t>
            </a:r>
          </a:p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doublet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0875B-C835-459E-AE2D-CF43BD9E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Most mHSPC patients where intensification is indicated but chemotherapy adds more risk than expected gain.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37285-80C0-43E1-9462-9F3F5C12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7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75BC4-B4BE-437F-9E8F-BCABE870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288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ESCALATE SELECTIVELY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BD1DE-4EE4-4F4F-9EDB-942E76B7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ADT + ARPI</a:t>
            </a:r>
          </a:p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+ docetaxel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67F7D-82F9-4675-9703-9DB7A884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367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Fit, de novo, high-volume, visceral / bone-heavy disease, or early PSA kinetics suggesting inadequate response.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00AF3-AA7C-4B20-A37F-007343F7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10200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733CB-BDF1-474E-81B2-9D6D8E92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197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ADT monotherapy becomes the exception that needs a documented reason.</a:t>
            </a:r>
          </a:p>
        </p:txBody>
      </p:sp>
    </p:spTree>
    <p:extLst>
      <p:ext uri="{BB962C8B-B14F-4D97-AF65-F5344CB8AC3E}">
        <p14:creationId xmlns:p14="http://schemas.microsoft.com/office/powerpoint/2010/main" val="18549132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030E3-D131-4D79-8393-339BF671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21C0D2-BD62-4803-85A0-3EF0C23A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DCA37D5-9161-47DC-8EDC-2A139452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PSMA PET / RADIOLIGAND THERAPY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EC9F7-60D7-4ADC-8BB4-218EBCA7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PSMA moves earlier.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Monitoring gets messier.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ECC62-A925-4B2B-884B-A8ED2BD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The PSMAddition question is not only efficacy. It is what happens to imaging, eligibility, and progression calls after target pressure.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790E5-C381-46BF-A215-B51DB996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42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48322-D064-47FC-A438-CDB31883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E2D24-BBB7-4826-B849-11CCEC19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9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Staging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12304-7FFB-452A-BC11-0E1B3BC5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625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High-risk / BCR disease uses PSMA to redefine extent.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091C4-C41C-42A7-80A7-329940F4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D61CC-733F-4CE0-AF39-FC80F735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Eligibility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AD487-CB2B-4B62-AB08-C82B7080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625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PSMA-positive disease enters treatment selection.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16C5E-2370-4971-9FF1-BA678663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FE709-52DF-4007-B0BD-99955F4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Earlier RLT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6FEDA-DE3B-498B-A405-D8E06832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Lu-PSMA + ADT + ARPI enters mHSPC conversation.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C6782-3BA5-4F7C-808C-681FCA8A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A1DB5-BBF1-4B29-A699-156246C9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19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After RLT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85157-BCB2-4C97-80CF-134B9AD3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Progression may require multimodal imaging logic.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36219-74D3-49A4-BD6A-AD7104AA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069DF-2518-4D2E-B9D5-C9DB0767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623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PD23-02: PSMAddition PSA endpoints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EB08E-B151-4EE7-B27F-3A7ED5CE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IP73-16 raises the caution: after 177Lu-PSMA, PSMA PET may not be the only progression lens.</a:t>
            </a:r>
          </a:p>
        </p:txBody>
      </p:sp>
    </p:spTree>
    <p:extLst>
      <p:ext uri="{BB962C8B-B14F-4D97-AF65-F5344CB8AC3E}">
        <p14:creationId xmlns:p14="http://schemas.microsoft.com/office/powerpoint/2010/main" val="6340330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003B0-E718-480B-A3E5-DA54B446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E79AE9-3981-4CB5-ACEE-E2F532F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49CA6A-35DA-4C8C-8C89-09BC0D74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MCRPC PRECISION MEDICINE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2DBF9-3FBA-41A7-B027-177132B6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BRCA is no longer a binary checkbox.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91F59-B377-4AC1-8FEF-80CF40AB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AUA 2026 reframes mCRPC precision care around when to test, what specimen to use, and how variant-level results alter therapy.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8A67A-9C44-453D-862F-6E461553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E9081-5669-458D-B598-AD3A0D0E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D5FE7-96E4-4458-84EB-B2C7F28C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Test early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6DAB6-9177-43F6-8E41-8308D709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Germline + somatic testing should happen before the last-line scramble.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894BC-ACB4-4B04-88E1-A5692213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585CA-5755-4142-9F79-35E22EDA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C532D-49C1-488F-AAD1-A692B690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Read deeply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7E979-D44F-464F-A6D6-CA40A3C5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577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BRCA1, BRCA2 loss, HRR co-alterations, tissue vs liquid matter clinically.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89332-0920-44C6-96E2-F2B598ED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FB01D-B19D-4D50-BE04-2F891E6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8E811-F07A-41D9-A98E-7A2A82F2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Sequence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therapy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956BF-4771-44B1-B105-A50EAA7D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PARP, ARPI, chemotherapy, trial availability, and anemia risk must be considered together.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3A048-5C14-4AE8-9529-C60C64A8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7371A-3187-4C46-BCB7-AF0C2E78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Clinical bottom line: molecular testing is part of the first architecture, not a salvage add-on.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3D41B-0DD1-407B-94F7-E0CB6C36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Local anchors: IP73-24, IP73-04, IP38-30, PD23-06, PD23-15.</a:t>
            </a:r>
          </a:p>
        </p:txBody>
      </p:sp>
    </p:spTree>
    <p:extLst>
      <p:ext uri="{BB962C8B-B14F-4D97-AF65-F5344CB8AC3E}">
        <p14:creationId xmlns:p14="http://schemas.microsoft.com/office/powerpoint/2010/main" val="553844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C12358-AA0F-4A7D-B3BF-B952FEC8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E26820-2217-4CBF-AE9C-FA3CBDE8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00CBD3C-0E95-4B2F-B493-4FF50C65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TOXICITY AND CLINIC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6DE85-AAD8-4887-B305-C226DB5B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hidden endpoint is clinic durability.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2C466-0BAF-4677-9133-645DF6E5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Treatment intensification only pays off if the clinic can keep patients alive, functional, and willing to stay on therapy.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54AD2-C218-4778-9E67-CF98D179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01973-E42E-45D7-8349-F6DB2655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Advanced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Prostate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Cancer Clinic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366A2-61E3-48EB-BC88-FC63E511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9F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F25B8-F7B2-4B9A-BB99-381F171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43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F0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9F0A"/>
                </a:solidFill>
                <a:latin typeface="Avenir Next"/>
                <a:ea typeface="Avenir Next"/>
                <a:cs typeface="Avenir Next"/>
              </a:rPr>
              <a:t>Bone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AFB89-A98A-4F80-A8BD-0C911A24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289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denosumab / dental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116D0-A63F-4571-A268-1A5A6928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3B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D50CC-C7FB-4C6C-82B0-8FF65C22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43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B3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3B30"/>
                </a:solidFill>
                <a:latin typeface="Avenir Next"/>
                <a:ea typeface="Avenir Next"/>
                <a:cs typeface="Avenir Next"/>
              </a:rPr>
              <a:t>CV / metabolic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9AAA2-D8E6-4994-9BB3-DA2C5C5A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ADT risk, diabetes, statins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BC2D1-9AA3-4719-BB09-2591229E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48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71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8FA90-2E6C-4009-A7D4-C1B27BE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9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Anemia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FF104-3BE7-4216-9FDD-868879AB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054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PARP combination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EFFEE-C2BE-4783-BA1A-C6F34193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530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4C7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CCFC5-17F2-4759-A4DC-3D4B6B18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24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C75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34C759"/>
                </a:solidFill>
                <a:latin typeface="Avenir Next"/>
                <a:ea typeface="Avenir Next"/>
                <a:cs typeface="Avenir Next"/>
              </a:rPr>
              <a:t>Exercise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C0E2D-9651-4890-8D30-57598868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102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resistance training as care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BE626-6E7C-4F2F-B6E2-C86DC11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E6E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93ECD-3737-4751-9DB8-7C4D5FF3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76474-8705-4D99-8807-628E5C4A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orchiectomy, cost, reversibility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46CE2-FA8D-4C1C-9DDA-8914228D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198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Quality is no longer measured only by access to drugs.</a:t>
            </a:r>
          </a:p>
        </p:txBody>
      </p:sp>
    </p:spTree>
    <p:extLst>
      <p:ext uri="{BB962C8B-B14F-4D97-AF65-F5344CB8AC3E}">
        <p14:creationId xmlns:p14="http://schemas.microsoft.com/office/powerpoint/2010/main" val="18143870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73065C-CECF-4263-A993-C1AC1027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27DF0D-BB03-4447-B4EB-B8EB86EB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CBC68A9-74B7-4435-85E6-160E9DCF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PRACTICE TRANSLATION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544D3-1A37-43C3-AEF3-C2010A9F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What I would change after AUA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5C5AD-78B9-4EC1-8319-83B28648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ED975-CACD-4331-8AF7-AA4E208E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80E84-C581-4468-BEF2-A74DF1E5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764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Build an mHSPC first-visit checklist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1C57F-15FC-4B3E-9C8F-031B29A3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504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volume / risk, imaging, PSA-testosterone, genetics, bone, CV-metabolic, referral 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457D2-34E9-4966-9F14-38388C16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DB9DB-3A29-4BA5-9C39-50F5F49E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2B1AC-031B-41A8-AC20-6DA34F00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003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Treat ADT monotherapy as an exception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8F4BA-589B-4529-86C2-E04F2E01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504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most mHSPC should at least discuss ADT + ARPI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52579-07A5-40CC-9C9E-C6AE681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F3D32-0085-4817-94BA-CBD99E4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8620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472D3-CB99-4388-A835-7BCB8775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242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Make PSMA PET a pathway, not a one-off scan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EF48B-BF70-4BAA-A574-38E86FA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504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especially around BCR, eligibility, and post-RLT discordance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35DF4-48BF-43CA-A0FC-48D1697F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50725-8562-4C95-9D4F-E8E3C98D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725D4-1C30-4510-ACE3-23F3DEB0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481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Move genomic testing earlier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BF9DD-0FFC-42D6-BDE5-BD014039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504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BRCA / HRR results need enough time to influence sequencing and trial options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848AC-F050-4676-B180-6BD8A548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71E3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F2F56-A0FF-4C2F-B613-8BE0E9DC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851EA-3B8B-48B5-9389-1EFBB382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720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Operationalize supportive care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F4170-38A1-4A88-996E-3A2C66E0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19650"/>
            <a:ext cx="504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bone agent safety, anemia, exercise, drug interactions, financial toxicity, patient preference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AA256-15F3-43AB-92D0-3F66F746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1CE89C-0E07-4801-94B2-A8797916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971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E6E73"/>
                </a:solidFill>
                <a:latin typeface="Avenir Next"/>
                <a:ea typeface="Avenir Next"/>
                <a:cs typeface="Avenir Next"/>
              </a:rPr>
              <a:t>Sources: local AUA 2026 abstract/poster dataset; AUA Annual Meeting schedule; AUA/SUO Advanced Prostate Cancer Guideline Amendment announcement, 2026-05-12.</a:t>
            </a:r>
          </a:p>
        </p:txBody>
      </p:sp>
    </p:spTree>
    <p:extLst>
      <p:ext uri="{BB962C8B-B14F-4D97-AF65-F5344CB8AC3E}">
        <p14:creationId xmlns:p14="http://schemas.microsoft.com/office/powerpoint/2010/main" val="1025385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2026-05-17T01:03:42.7040000Z</dcterms:created>
  <dcterms:modified xsi:type="dcterms:W3CDTF">2026-05-17T01:03:42.7040000Z</dcterms:modified>
</coreProperties>
</file>