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d81b59a89740ef" /><Relationship Type="http://schemas.openxmlformats.org/officeDocument/2006/relationships/extended-properties" Target="/docProps/app.xml" Id="R6644949e5429481a" /><Relationship Type="http://schemas.openxmlformats.org/officeDocument/2006/relationships/officeDocument" Target="/ppt/presentation.xml" Id="Rea0c01b366b6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450a10da04d31"/>
  </p:sldMasterIdLst>
  <p:notesMasterIdLst>
    <p:notesMasterId xmlns:r="http://schemas.openxmlformats.org/officeDocument/2006/relationships" r:id="R46b6063e2c30471b"/>
  </p:notesMasterIdLst>
  <p:sldIdLst>
    <p:sldId xmlns:r="http://schemas.openxmlformats.org/officeDocument/2006/relationships" id="256" r:id="Rbcb911033de54ffc"/>
    <p:sldId xmlns:r="http://schemas.openxmlformats.org/officeDocument/2006/relationships" id="257" r:id="R8fd28532f06c40e6"/>
    <p:sldId xmlns:r="http://schemas.openxmlformats.org/officeDocument/2006/relationships" id="258" r:id="R0ca6817771304395"/>
    <p:sldId xmlns:r="http://schemas.openxmlformats.org/officeDocument/2006/relationships" id="259" r:id="Rf94bc54259c84cfb"/>
    <p:sldId xmlns:r="http://schemas.openxmlformats.org/officeDocument/2006/relationships" id="260" r:id="R1f7d03c732b6430c"/>
    <p:sldId xmlns:r="http://schemas.openxmlformats.org/officeDocument/2006/relationships" id="261" r:id="Rd7db95ec53994d41"/>
    <p:sldId xmlns:r="http://schemas.openxmlformats.org/officeDocument/2006/relationships" id="262" r:id="Re210b79afcbd4f8c"/>
    <p:sldId xmlns:r="http://schemas.openxmlformats.org/officeDocument/2006/relationships" id="263" r:id="R3c08b59eb5e041a2"/>
    <p:sldId xmlns:r="http://schemas.openxmlformats.org/officeDocument/2006/relationships" id="264" r:id="R84c2180c2a1743b1"/>
    <p:sldId xmlns:r="http://schemas.openxmlformats.org/officeDocument/2006/relationships" id="265" r:id="R18c96d11306a420e"/>
    <p:sldId xmlns:r="http://schemas.openxmlformats.org/officeDocument/2006/relationships" id="266" r:id="R574386ab780e48a0"/>
    <p:sldId xmlns:r="http://schemas.openxmlformats.org/officeDocument/2006/relationships" id="267" r:id="R3bab736c55104971"/>
    <p:sldId xmlns:r="http://schemas.openxmlformats.org/officeDocument/2006/relationships" id="268" r:id="Rb037ed4f05ad4a30"/>
    <p:sldId xmlns:r="http://schemas.openxmlformats.org/officeDocument/2006/relationships" id="269" r:id="R2cec6f86235c4449"/>
    <p:sldId xmlns:r="http://schemas.openxmlformats.org/officeDocument/2006/relationships" id="270" r:id="R807b830de9514da3"/>
    <p:sldId xmlns:r="http://schemas.openxmlformats.org/officeDocument/2006/relationships" id="271" r:id="R2b83dc4f1d0448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450a10da04d31" /><Relationship Type="http://schemas.openxmlformats.org/officeDocument/2006/relationships/theme" Target="/ppt/theme/theme1.xml" Id="R9919cfa14f8e4d5e" /><Relationship Type="http://schemas.openxmlformats.org/officeDocument/2006/relationships/notesMaster" Target="/ppt/notesMasters/notesMaster1.xml" Id="R46b6063e2c30471b" /><Relationship Type="http://schemas.openxmlformats.org/officeDocument/2006/relationships/presProps" Target="/ppt/presProps.xml" Id="Ra7d3debfc33b459b" /><Relationship Type="http://schemas.openxmlformats.org/officeDocument/2006/relationships/viewProps" Target="/ppt/viewProps.xml" Id="R53325b26e79541cc" /><Relationship Type="http://schemas.openxmlformats.org/officeDocument/2006/relationships/tableStyles" Target="/ppt/tableStyles.xml" Id="Rdd9587e468594d54" /><Relationship Type="http://schemas.openxmlformats.org/officeDocument/2006/relationships/slide" Target="/ppt/slides/slide1.xml" Id="Rbcb911033de54ffc" /><Relationship Type="http://schemas.openxmlformats.org/officeDocument/2006/relationships/slide" Target="/ppt/slides/slide2.xml" Id="R8fd28532f06c40e6" /><Relationship Type="http://schemas.openxmlformats.org/officeDocument/2006/relationships/slide" Target="/ppt/slides/slide3.xml" Id="R0ca6817771304395" /><Relationship Type="http://schemas.openxmlformats.org/officeDocument/2006/relationships/slide" Target="/ppt/slides/slide4.xml" Id="Rf94bc54259c84cfb" /><Relationship Type="http://schemas.openxmlformats.org/officeDocument/2006/relationships/slide" Target="/ppt/slides/slide5.xml" Id="R1f7d03c732b6430c" /><Relationship Type="http://schemas.openxmlformats.org/officeDocument/2006/relationships/slide" Target="/ppt/slides/slide6.xml" Id="Rd7db95ec53994d41" /><Relationship Type="http://schemas.openxmlformats.org/officeDocument/2006/relationships/slide" Target="/ppt/slides/slide7.xml" Id="Re210b79afcbd4f8c" /><Relationship Type="http://schemas.openxmlformats.org/officeDocument/2006/relationships/slide" Target="/ppt/slides/slide8.xml" Id="R3c08b59eb5e041a2" /><Relationship Type="http://schemas.openxmlformats.org/officeDocument/2006/relationships/slide" Target="/ppt/slides/slide9.xml" Id="R84c2180c2a1743b1" /><Relationship Type="http://schemas.openxmlformats.org/officeDocument/2006/relationships/slide" Target="/ppt/slides/slide10.xml" Id="R18c96d11306a420e" /><Relationship Type="http://schemas.openxmlformats.org/officeDocument/2006/relationships/slide" Target="/ppt/slides/slide11.xml" Id="R574386ab780e48a0" /><Relationship Type="http://schemas.openxmlformats.org/officeDocument/2006/relationships/slide" Target="/ppt/slides/slide12.xml" Id="R3bab736c55104971" /><Relationship Type="http://schemas.openxmlformats.org/officeDocument/2006/relationships/slide" Target="/ppt/slides/slide13.xml" Id="Rb037ed4f05ad4a30" /><Relationship Type="http://schemas.openxmlformats.org/officeDocument/2006/relationships/slide" Target="/ppt/slides/slide14.xml" Id="R2cec6f86235c4449" /><Relationship Type="http://schemas.openxmlformats.org/officeDocument/2006/relationships/slide" Target="/ppt/slides/slide15.xml" Id="R807b830de9514da3" /><Relationship Type="http://schemas.openxmlformats.org/officeDocument/2006/relationships/slide" Target="/ppt/slides/slide16.xml" Id="R2b83dc4f1d0448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e4e0a2eadc5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33a794edf44915" /><Relationship Type="http://schemas.openxmlformats.org/officeDocument/2006/relationships/notesMaster" Target="/ppt/notesMasters/notesMaster1.xml" Id="R27b6bc3ecc03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7a6885c3e402f" /><Relationship Type="http://schemas.openxmlformats.org/officeDocument/2006/relationships/notesMaster" Target="/ppt/notesMasters/notesMaster1.xml" Id="Rd83c53dc94f946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08e05fd52a44d1" /><Relationship Type="http://schemas.openxmlformats.org/officeDocument/2006/relationships/notesMaster" Target="/ppt/notesMasters/notesMaster1.xml" Id="R16d88ae5359d49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4e7472002247e7" /><Relationship Type="http://schemas.openxmlformats.org/officeDocument/2006/relationships/notesMaster" Target="/ppt/notesMasters/notesMaster1.xml" Id="R0b5e698c881e40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5128b60a7749a5" /><Relationship Type="http://schemas.openxmlformats.org/officeDocument/2006/relationships/notesMaster" Target="/ppt/notesMasters/notesMaster1.xml" Id="R700b56242e4f4e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0f72b48d664999" /><Relationship Type="http://schemas.openxmlformats.org/officeDocument/2006/relationships/notesMaster" Target="/ppt/notesMasters/notesMaster1.xml" Id="R033e4998e36f41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b25719f63d4a03" /><Relationship Type="http://schemas.openxmlformats.org/officeDocument/2006/relationships/notesMaster" Target="/ppt/notesMasters/notesMaster1.xml" Id="Rae72312d418d4a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dca966a2f74363" /><Relationship Type="http://schemas.openxmlformats.org/officeDocument/2006/relationships/notesMaster" Target="/ppt/notesMasters/notesMaster1.xml" Id="R73d9f862f823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60fe2408834177" /><Relationship Type="http://schemas.openxmlformats.org/officeDocument/2006/relationships/notesMaster" Target="/ppt/notesMasters/notesMaster1.xml" Id="R31c7fce1572a44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b1ddd1926d4f9a" /><Relationship Type="http://schemas.openxmlformats.org/officeDocument/2006/relationships/notesMaster" Target="/ppt/notesMasters/notesMaster1.xml" Id="Rc66861bf5d7a4f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60157a74324c89" /><Relationship Type="http://schemas.openxmlformats.org/officeDocument/2006/relationships/notesMaster" Target="/ppt/notesMasters/notesMaster1.xml" Id="R8af348395f0b4d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6be8117c404b58" /><Relationship Type="http://schemas.openxmlformats.org/officeDocument/2006/relationships/notesMaster" Target="/ppt/notesMasters/notesMaster1.xml" Id="Rf007ee750d1a4e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e3c7cb24694f78" /><Relationship Type="http://schemas.openxmlformats.org/officeDocument/2006/relationships/notesMaster" Target="/ppt/notesMasters/notesMaster1.xml" Id="Rde758d987cc649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6fafc8fcde4932" /><Relationship Type="http://schemas.openxmlformats.org/officeDocument/2006/relationships/notesMaster" Target="/ppt/notesMasters/notesMaster1.xml" Id="R098b6108a97e40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4d2d4b88204c37" /><Relationship Type="http://schemas.openxmlformats.org/officeDocument/2006/relationships/notesMaster" Target="/ppt/notesMasters/notesMaster1.xml" Id="Rffa9f3abf3824b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18bef3438e424f" /><Relationship Type="http://schemas.openxmlformats.org/officeDocument/2006/relationships/notesMaster" Target="/ppt/notesMasters/notesMaster1.xml" Id="Rd392f84f0fcb45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18f5785f54f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7996d0d0b040d1" /><Relationship Type="http://schemas.openxmlformats.org/officeDocument/2006/relationships/slideLayout" Target="/ppt/slideLayouts/slideLayout2.xml" Id="R82883fd5603645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83fd5603645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60950a92b4aac" /><Relationship Type="http://schemas.openxmlformats.org/officeDocument/2006/relationships/notesSlide" Target="/ppt/notesSlides/notesSlide1.xml" Id="R0fb2ec2b1cc043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11e4fc82914fe0" /><Relationship Type="http://schemas.openxmlformats.org/officeDocument/2006/relationships/notesSlide" Target="/ppt/notesSlides/notesSlide2.xml" Id="R7c28a24bfc144e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6a8b465eb477d" /><Relationship Type="http://schemas.openxmlformats.org/officeDocument/2006/relationships/notesSlide" Target="/ppt/notesSlides/notesSlide3.xml" Id="R1af969eafcd849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f9bab5bc249dd" /><Relationship Type="http://schemas.openxmlformats.org/officeDocument/2006/relationships/notesSlide" Target="/ppt/notesSlides/notesSlide4.xml" Id="Rc6f48cdc7ced4d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6a2c5bcc0a45a3" /><Relationship Type="http://schemas.openxmlformats.org/officeDocument/2006/relationships/notesSlide" Target="/ppt/notesSlides/notesSlide5.xml" Id="R242e1022704e46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ff38f565a045af" /><Relationship Type="http://schemas.openxmlformats.org/officeDocument/2006/relationships/notesSlide" Target="/ppt/notesSlides/notesSlide6.xml" Id="R151d18aa67ef40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0755128cd42e8" /><Relationship Type="http://schemas.openxmlformats.org/officeDocument/2006/relationships/notesSlide" Target="/ppt/notesSlides/notesSlide7.xml" Id="R4884803ab65841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d147edc0bf4070" /><Relationship Type="http://schemas.openxmlformats.org/officeDocument/2006/relationships/notesSlide" Target="/ppt/notesSlides/notesSlide8.xml" Id="R7b21d7aa9ebb4c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1bd36cbc2a42b6" /><Relationship Type="http://schemas.openxmlformats.org/officeDocument/2006/relationships/notesSlide" Target="/ppt/notesSlides/notesSlide9.xml" Id="R8726970b345040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66479dd3a480c" /><Relationship Type="http://schemas.openxmlformats.org/officeDocument/2006/relationships/notesSlide" Target="/ppt/notesSlides/notesSlide10.xml" Id="Rac3e66c4b71b48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00ea228694d4f" /><Relationship Type="http://schemas.openxmlformats.org/officeDocument/2006/relationships/notesSlide" Target="/ppt/notesSlides/notesSlide11.xml" Id="R452a6230a60f43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eaea7d360d4791" /><Relationship Type="http://schemas.openxmlformats.org/officeDocument/2006/relationships/notesSlide" Target="/ppt/notesSlides/notesSlide12.xml" Id="R67c62c2cdf844b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c7720e38a4448" /><Relationship Type="http://schemas.openxmlformats.org/officeDocument/2006/relationships/image" Target="/ppt/media/image.png" Id="Rca5c1d85da9045b3" /><Relationship Type="http://schemas.openxmlformats.org/officeDocument/2006/relationships/notesSlide" Target="/ppt/notesSlides/notesSlide13.xml" Id="Ra1405f7dc00144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4e862c737467c" /><Relationship Type="http://schemas.openxmlformats.org/officeDocument/2006/relationships/image" Target="/ppt/media/image2.png" Id="R66d12c66485b45c2" /><Relationship Type="http://schemas.openxmlformats.org/officeDocument/2006/relationships/notesSlide" Target="/ppt/notesSlides/notesSlide14.xml" Id="R9344796da86b42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1a7d0fead34186" /><Relationship Type="http://schemas.openxmlformats.org/officeDocument/2006/relationships/image" Target="/ppt/media/image3.png" Id="Rf8b73831dbe546db" /><Relationship Type="http://schemas.openxmlformats.org/officeDocument/2006/relationships/notesSlide" Target="/ppt/notesSlides/notesSlide15.xml" Id="Rdcc8b1810e0549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987fbb0fc45ee" /><Relationship Type="http://schemas.openxmlformats.org/officeDocument/2006/relationships/image" Target="/ppt/media/image4.png" Id="R919fad120b7c4643" /><Relationship Type="http://schemas.openxmlformats.org/officeDocument/2006/relationships/notesSlide" Target="/ppt/notesSlides/notesSlide16.xml" Id="R78f3ec0605da45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00A12-D3B4-47AF-AAD6-FBB11505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27DB8-2D8A-4E9F-A9DB-F0FE7F20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8D3BA-8A8F-4CAE-866C-23D86A69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F17D2-F6DA-4217-ABD0-B0E5B12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AUA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D4689-2133-47E2-8CE5-BAC7AED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77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Advanced &amp; Metastatic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Prostate Cancer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F263C-074B-4868-83BA-D120B90F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Narrative update with abstract digests and original poster 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D6AFB-5B24-4290-83C6-E2931613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Washington, DC | May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58FFD-D552-4944-9A9A-82B0663B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478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5EE3E-8564-4A32-A2FF-8331604F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906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CDB43-2033-44E2-B3D7-E04A6CA0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7738D-D90B-4EE7-9341-748B8C42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advanced-session 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D44EB-5B03-4117-AA4E-E11DD40D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IP38 + PD23 + IP73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39085-EB73-43BE-9FED-E109C382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BC895-B30D-47FB-871E-987EAB50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1DA72-8CA2-41C6-95EC-BE352DC8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08E12-C013-4A96-A8E4-65A88B8C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original posters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9A917-4E66-438A-A23A-448DBB7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attached as source 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04ACA-F315-4B32-8CE3-3B73E4BF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862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584F2-852F-44B1-878B-92FD254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643FE-AED9-4BA3-B363-2D78E40A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E6A7D-9D36-4360-8783-39C8A7AD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guideline recs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AAA0A-5439-4567-B1AB-3EE182D4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910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AUA/SUO 2026 amendment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D3724-0572-45F8-97BE-CB6554BB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Speaker 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05B7B-7349-47DB-AE03-64D040E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useful update is not a list of new agents. It is a cleaner way to run an advanced prostate cancer clinic.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7FE50-82C6-40A5-AF25-95856A1A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Sources: AUA 2026 program; AUA/SUO APC guideline amendment; local AUA abstract/poster corpus.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A4AC3-6EB1-4F8B-90F2-43237C1B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215729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FB537B-84A0-4667-AD1D-1CD7888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490DF-F117-4E20-8FAA-B96887DA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8C639-9FB1-434C-AC55-33B7F114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547A6-D51B-4C43-B52E-3576CDFE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CLAIM SPINE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297D9-DE51-4152-9731-9F31F72B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Not one breakthrough. A new operating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44945-1BF0-475B-825D-338A0F9F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AUA 2026 connects treatment intensification, imaging, genomics, and toxicity management into one clinical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42AA8-555E-4B59-8D25-6886FBCC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045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AE06C-9FD6-479F-B688-E9253CCB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6AD9E-103D-44A5-888F-0BC6FC48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INTENSIFY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AB152-4191-4699-BD3C-E82B772E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981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Doublet therapy is no longer exotic; the real question is who needs triplet therapy.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79CBA-4C4A-4442-9A69-069B6D2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0045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356FF-E1CA-4B3C-B2A7-E12971BB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25110-277D-4180-9C0C-9710D276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957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08697-AC79-4F13-ABB6-EB7593E6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43350"/>
            <a:ext cx="1981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triplet signal is clinically plausible, but not uniform enough to become an automatic reflex.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ACF10-5ECF-46C2-8DEB-18B53298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7B464-BFAE-403B-8776-5CF687A0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433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98D51-231B-4A4C-9C47-9CB707E8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D6CE7-B6AF-4C35-8020-DDC9D1AD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1981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PSMA PET is central, yet post-RLT monitoring may need more than one tracer story.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687A0-BD19-483C-9598-9E57525B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903BB-D55E-4FF0-A78D-2AD71BF5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C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B84CA-18CB-4D81-852C-A3C0BD3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957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SUSTAIN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C2047-D703-43F8-831D-EBE19B15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43350"/>
            <a:ext cx="1981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endpoint is not only response. It is whether the clinic can keep patients safely on therapy.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C3FA3-BDBF-4E68-A37A-DE16CBF0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Talk 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F0FFE-DF14-41E8-9992-6A632DC8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 would present this as a clinic-design update: under-treatment and over-treatment now happen in the same room, and the answer is workflow discipline.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28AF9-37E6-40A0-AD60-0601E0C5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Narrative synthesis from AUA advanced prostate cancer sessions and poster abstracts.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67D4D-57CB-45B6-AC6B-039FC9A6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27527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BAAA1-E298-47F4-8EE3-D85CC6C4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22944-FE5E-4056-8919-D9D87663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D8EF3-650A-4C97-8E2E-3F4A808C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1C82A-2D6E-48A6-A56E-5F54C6EE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OFFICIAL ANCHOR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BC432-8024-4ECA-BC48-B50901E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guideline update validates the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D829D-A0D7-4ECB-B1B8-3DF6A7BC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The May 2026 AUA/SUO amendment explicitly expands guidance across imaging, molecular testing, risk stratification, and treatment paradigms.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AF534-79AF-497E-8965-376EA1C7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4320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58234-8CF3-4E73-847E-C7345B4F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EA973-FFEE-4100-B846-8B2C493B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IMAGING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B8399-FB6F-45F5-B1D6-12C03DE6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Appropriate imaging becomes a treatment-selection tool, not just a staging formality.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038D3-5F14-4350-975F-A066A909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4320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EC0DC-7953-4713-BA9C-CD76C126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860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65941-0047-404E-8431-E2837EC3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3BA76-95A5-41AE-9070-E8EF4AC7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Germline and somatic testing move earlier and become part of routine APC counseling.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9856A-DF4D-4224-8F80-64D4589A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8CEBC-EEB6-451D-B735-E607903F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C18C9-7367-4550-B1F4-EAD94697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61CB0-2A07-49CC-B1B4-5CCC2EF4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Risk stratification is needed to choose intensity, de-intensity, and sequencing.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13453-DF18-4417-AA3A-203686F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4320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B4D9D-FEAD-4641-BF1A-0BE95532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C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614F5-0DA4-44E1-8FC6-8F75C1B4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TREATMENT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84E2C-A6BD-4C4B-935E-269F9F82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Combination therapy and sequencing are now a guideline-level management problem.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90199-FC8A-4D3E-B595-BB8CA28F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10150"/>
            <a:ext cx="1000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2CB21-3D56-416D-B47C-DA380B1D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000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51643-7F24-48AB-BC8C-4FC26B7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Why this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AFA19-5A07-4626-9668-B015CE84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040IC course description mirrors the same pattern: genetic counseling, somatic testing, ADT + ARPI + chemotherapy, PSMA PET, PARP inhibitors, CRPC sequencing, and de-intensification.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1391D-F731-4CC2-8A4E-2A292A6D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Sources: AUA/SUO APC Guideline Amendment announcement, May 12 2026; AUA 040IC course page.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F4B27-B6A4-48A8-8992-071D9F56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69130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F0169-CC9A-4FD9-8254-D57F8E1F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F73AF-805A-44A1-BE01-F8E3D366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67C3B-1D96-415A-9C52-01AAA212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BDA13-51C5-47E1-B781-C2992847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MHSPC INTENSIFICATION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94B7D-C95C-4AE9-8E7E-489FA2B3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Routine care has already moved away from ADT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015E3-E2D3-4FBE-800B-1AF3399A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In a Swedish population-based de novo mCSPC cohort, doublet and triplet uptake rose alongside improved 3-year survival.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6256E-5C8B-4BF6-95C1-9CD68704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Upfront doublet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3F8D-90EE-40AC-9A6E-C57C28D1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2C1F1-710E-465D-A749-FF2FD28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11763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AFCCB-1877-48DE-8CAD-ED7BAAC9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65B41-E95F-47AF-8812-7F0329F9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086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516D4-1F17-40E8-BE9A-C2991DFE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6765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2907D-7B35-43FD-8BB1-CFC58CA8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241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66%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A84D2-6D3B-4631-99FB-42FFD17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Upfront triplet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37F2D-C093-483E-8BC3-8664AB78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EA201-FE07-4DCF-B84E-C6A8747C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7E9E1-FCAE-4710-9E3F-01EAEAFD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BE520-9738-409B-BF52-798FAED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10525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21916-CA56-45AD-8D3A-8BB915D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147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E2345-11AC-4955-A058-828375C2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37623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17%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3DA00-30D2-4D42-AB8F-B4730E0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3-year OS, all men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A3E5D-82DC-4969-8B9E-03E05758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BACD6-E1D7-4DE3-BFFB-185D5425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31575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64A4A-1AF9-4D55-8BE3-16C94888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E3A10-4637-4729-BBD8-76221DA9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37766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9551A-6680-47FC-A9F3-704CD6CC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3529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51%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E733EF-C3D0-4047-8374-7B4C4366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46005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61%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F89DE-5109-4263-A415-F3AAE92F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3-year OS, age &lt;65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74ABA-ABBF-4461-A6C1-14F0238D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9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A59850-86CC-4766-A2E0-35FDCF0D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9700"/>
            <a:ext cx="42719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615D1-5668-4F54-9F02-8EDEB5F0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67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7B055-F02D-4AA7-BCA8-C6033D3A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67350"/>
            <a:ext cx="47672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15E45-E875-4B9E-BB39-3B9E4CC1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1911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69%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71089-0161-467E-9782-55861ADC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963" y="54387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77%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478FA0-26D8-4CD8-A5EA-59B9B252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813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C18909-7D1E-4BFC-A570-681C0C1D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763322-9564-4471-AB48-38189900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9,294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E0CC94-555E-4883-8B31-51C65427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 novo mCSPC men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280BFA-DBDB-4707-ACE9-76D84412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NPCR Sweden, 2016-2024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C2D976-A6A4-4078-94B0-9DFCB84A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52900"/>
            <a:ext cx="2990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0EB83C-31CE-4693-9251-E4895597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2990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BC047C-9AC8-4BEC-B03C-952D4D64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2647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D447B7-FDFA-4785-A0BA-1A5B8656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264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signal is real-world adoption plus survival movement, not randomized proof that every patient needs triplet therapy.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45FC3C-5F46-4CE5-B70F-3A838F1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Source: IP38-12 original poster PDF; values paraphrased from poster results.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93CAD4-E0D2-42CD-B75C-C8C61D8B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13732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437DD2-2B07-480D-A927-E7CCE548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3335-D167-4A93-BC9E-A6A0612D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BD44B-1E28-42DD-ADA5-9D912CEB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4B4B9-73DD-456B-8E70-A71EAC56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TRIPLET SELECTION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7DCA3-0A4E-4658-B065-B2A9F84F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Triplet therapy needs a gate, not a reflex.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10094-E3ED-4165-881D-ECC9F6A0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Bayesian and real-world data keep ADT + ARPI as the rational default while identifying a narrower high-volume, fit-patient lane.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D25A3-5947-448C-8E30-85A2932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28900"/>
            <a:ext cx="2171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5AE4C-D90A-4F40-879F-7495772F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171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9B940-CB86-426B-BF8B-57D66F6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OVERALL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404D2-9D14-4381-9B62-1DD5D653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HR 1.04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A6264-A155-4C06-92D9-82F556C9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Pr benefit 36%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0222F-F70C-483B-88CE-B35BE3E1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28900"/>
            <a:ext cx="2171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472A1-C545-4424-BE63-23A969B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171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1EB2E-603C-47C6-9C31-6F545FD3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HIGH-VOLUME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55FAF-2C03-4E3F-8185-935019F4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HR 0.89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8D2B4-33D0-427F-AAF5-1272CD0D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48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Pr benefit 90%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493A4-2B44-468B-A7A8-5F10512D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28900"/>
            <a:ext cx="2171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87271-8377-4864-81FA-0809C931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2171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623E7-D446-4A8A-9B4C-EA34069F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3B3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3B30"/>
                </a:solidFill>
                <a:latin typeface="Avenir Next"/>
                <a:ea typeface="Avenir Next"/>
                <a:cs typeface="Avenir Next"/>
              </a:rPr>
              <a:t>MEANINGFUL BENEFIT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9AC60-5207-4E23-AAF5-F3D56AE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HR &lt;0.8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015D8-AC00-4242-B804-ED198310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8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19% in high-volume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04F64-4B4D-4302-A6B1-354FF46E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38400"/>
            <a:ext cx="2781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893C4-34DF-4B75-BEAD-3109EBBD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781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B9784-DB05-4458-AFD8-227290D2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Selection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83227-23C8-4617-B3FA-B006E414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Consider triplet when high-volume disease, good performance status, chemo-eligible physiology, and patient goals align.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Otherwise, intensify with ADT + ARPI and preserve later-line options.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CE40B4-E977-4C97-8B43-D2605802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YUSHIMA registry: triplet was not clearly superior for time to CRPC; Bayesian borrowing suggested modest RMST benefit that depended on external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54AEB-3DEB-4A11-8AD2-56C30E3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Sources: IP38-13 and IP73-03 original poster PDFs.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AAAA2-3523-433B-B600-525D5380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13186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4651B-9143-4F19-B791-376C709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22D69-4062-49D2-99BF-A1941AD6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7906B-A56B-4282-9E81-0EE86EC0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CDDE9-C503-43E7-A962-00075DF3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IMPLEMENTATION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9851E-A69A-4401-928C-7769F05E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first ADT decision still varies by pathway.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1B5B-6DE2-4C52-B21D-6B35ECBA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Ontario data suggest intensification improved over time, but real-world delivery still depends on patient barriers and care-system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F27FF-F980-4F67-B47B-BD51F7A0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336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7172A-E083-42F1-8CD7-F9C74938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E8E7F-0E81-4501-9B6B-9D92847F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3,871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5CFA6-0851-4185-8E4C-8087CDEC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patients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349CF-E5A6-45CB-91A2-F56E8C84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de novo mHSPC, age &gt;=66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5B2DE-54E1-4819-84E3-3EF8A6EF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336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68E21-0C41-4977-B53E-7649020D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0C453-F386-4326-BE36-A110E1F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479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332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44485-D7E0-4295-A0EA-B7620E34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urologists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FB525-5BD3-4264-BF5C-339EB04E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ADT initiated by urologist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5E24F-13C6-4961-AFC5-852586F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336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5D2DF-BBAB-4212-ACFC-4EA1815F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096CA-07F8-470E-BCC1-4BA6DCAC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26.5%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0EAC8-0867-4B46-8DE6-A93E6D59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intensified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18945-D3AA-463B-8CE5-F79A4E94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ARPI or docetaxel within 6 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1EB6D-3ECA-4B3F-B03A-64C81BF1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00300"/>
            <a:ext cx="31432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092FE-4BC4-4F26-846C-8D2F2CE1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31432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C3979-DD89-420B-8A06-E5AD2385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9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Mean uptake per urologist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37062-3650-42D7-A665-F7B19999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E12B5-FFFB-486C-B40A-977635AE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219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E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2A20D6-A24A-4DC3-B41F-C3C7D3D8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384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BDCF2-9057-4CF2-9685-FEA5F76C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6339B6-BA92-4359-ACE3-08A12A37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F78F1-4E74-4ECE-A49C-331139A9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1472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59%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DCEEC-DC8D-4991-858D-345A2383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101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2DA4C9-1CCE-4F0A-9632-709CD698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C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4B6EB1-8844-4B3F-8511-4611F2EC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927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NARRATIVE 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8669C5-3945-49E9-BD33-6A5330F8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27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gap is no longer knowledge alone. It is referral timing, frailty/comorbidity assessment, drug access, documentation, and whether the urology clinic has a default intensification pathway.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578B6B-3F73-4B5B-9CDC-5DCDF14E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Source: IP73-14 original poster PDF.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933F49-D314-4F1B-8D4B-E277F46C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93446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AA392-B527-41B8-9092-DA70F98E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242DB-084E-40FD-A081-5077217A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2AA06-5022-4F15-A707-4BB45D17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B763A-AB73-43C5-974A-34291AA2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PSMA / RLT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EE8E3-40B0-4131-B21E-038171B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After target pressure, PSMA is no longer the whole imaging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C429F-EA5C-433A-B1B4-4355D49F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 Mayo registry analysis suggests 11C-Choline PET/CT may detect post-Lu-177 PSMA progression more often and at lower PSA than PSMA PET/CT.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BB7E5-7320-46FE-B323-FC9219B5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161D2-2267-4607-9D06-6949D3B5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70923-3C4B-48A6-AA18-740CB1E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235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19E53-AF55-41D4-B95A-CE56D5C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3ECCF-5573-420F-9C84-E94F7E7B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PSMA PET before Lu-177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C54B1-C49E-4A6D-857C-F1A1078C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FB"/>
          </a:solidFill>
          <a:ln xmlns:a="http://schemas.openxmlformats.org/drawingml/2006/main" w="19050">
            <a:solidFill>
              <a:srgbClr val="AF52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09EC2-D96D-4FDB-81B8-F27B1123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135B6-C4DB-427B-9574-B3FCC49A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6235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3CA09-2A81-42F5-886E-968A855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19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Therapy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CC060-57DE-4021-927E-9D1B3BC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Lu-177 PSMA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4B6C1-BD5F-42B0-8A07-EFB4D0EA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14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19050">
            <a:solidFill>
              <a:srgbClr val="FF9F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D8A04-2D8E-434F-A4AF-EC188C6F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F6F9D-09F7-4892-82E6-EA96D310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CFCAF-39A8-492F-A23F-2673380A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19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Progression 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7D708-62D5-4F60-B99E-400FE2BB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481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PSMA PET vs 11C-Choline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7D25D-7274-463B-9CB7-3885FB9A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C"/>
          </a:solidFill>
          <a:ln xmlns:a="http://schemas.openxmlformats.org/drawingml/2006/main" w="19050">
            <a:solidFill>
              <a:srgbClr val="34C7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0DCB5-AE31-43AC-9F5A-A9E499E9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26ADC-6F05-4067-917C-5A9D5010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19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A2F33-4F5C-41AC-8125-4BF20B4F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Biopsy / imaging / treatment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A5A0F-FD44-4ABE-9BFD-3126E5C8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336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6F016-D79E-4ADC-8637-09256235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D94CF-4C1A-4A4C-A98A-2E759C21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479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512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19F8F-A978-46BA-B309-459A300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PET/CT scans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861FE-FE4A-4E09-BAFB-647E4806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384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235 mCRPC patients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21DA5F-3C98-419A-9910-65AC032A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ECE4C7-CD69-4E48-9453-3656EE0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764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2EC91-6E22-4AFD-8F1A-8210BA33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54%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8194C-C9C3-4CE4-837C-6CBCD41D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479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progression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2B2C3A-F38E-484C-A9BF-6C2A6429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384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11C-Choline scans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228D4-79F7-4D81-83E4-807A622E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336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D6C2D5-E0EB-4B74-A1AD-903CCA8E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EC3D21-C627-4B2A-AD9B-30DB51AC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479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40%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E426D-54B8-44B0-A9FB-72E042AE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progression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243670-29E5-47A6-A425-D4BCE7E1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384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PSMA PET scans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25EFB4-484C-42EA-94C7-4F8E3FC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336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602307-54FB-4A03-9CC0-C42B2C2A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73CF2D-138A-4E61-A2E0-CDBD607D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2.0 vs 4.1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5DE836-E637-43EA-B2AA-1215BCEA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PSA at progression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3A6162-8F51-49EC-AD7C-FC56151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ng/mL, p=0.003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152038-6641-48F0-905B-A2AF9BDA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Source: IP73-16 original poster PDF. Interpret as retrospective registry signal, not definitive imaging standard.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C6FA56-6B5E-458A-BE24-9D57971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36916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211DA-BBE8-4AE0-8006-B941A7DA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A54AF-C84B-4BE3-B8F9-07E5BBF0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9302F-0F0F-4551-A17F-B55FD0EE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3FBD5-F04B-451D-A3E1-CC9780AF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MCRPC PRECISION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F6BD6-1643-4E04-8448-2E5724B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BRCA is no longer a binary checkbox.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77C31-B719-4407-A557-AED9F5B0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 large Japanese CGP cohort argues for variant-level annotation and treatment interpretation beyond simply 'BRCA altered' or 'not altered'.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87123-D1A6-43A1-BE9C-62DFFB36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0300"/>
            <a:ext cx="49149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187F1-7A43-4287-9D24-1F2B8D2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9149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FB057-0FF0-4814-AFB9-A032E3A7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CGP landscape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002F3-694D-4494-BA97-0FF58F0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TP53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B82FB-F023-44D7-962F-49CC8920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480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06571-7126-4826-8AFD-6BF6D1E3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480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E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A6DE3-BA58-445E-8602-7BFF3A0E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BRCA2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DAF00-4FBC-40D3-BADC-DC17372A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CBC81-42F6-46DF-A78D-100A5A5B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2A78C-1A7D-4A8C-9154-BC009952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CDK12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3E472-AFA4-4171-94BA-555E454E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481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67720-9357-479B-93C2-DE3DC23B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481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97E7F-AB29-4BFE-ACD6-3173EACC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ATM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109F2-10F6-48E4-A821-A330080C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E9782-34E7-4413-BD6D-C01F5FE2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A8DC7-8B6D-4F92-8278-FBF113AF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00300"/>
            <a:ext cx="37338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2FE16-F2CF-40DA-B478-58884236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37338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ACEF6-B77A-47DD-82E5-F49EA17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Clinical readout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0A257-13CB-4137-8978-FE1407A5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- BRCA1 PVs: inferior outcomes vs BRCA2 PVs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- BRCA2 loss: most favorable olaparib response signal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- MTB review shifted earlier in recent cases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- NEPC phenotype remains a separate escape problem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43DB8-BCC0-46C4-9367-669D8A30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353050"/>
            <a:ext cx="8515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F630F-20BF-4934-8B56-F522B55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95900"/>
            <a:ext cx="8515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034ADD-5761-4460-A4FF-408C8090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817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PRACTICE 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A6B7FB-BE23-43B0-B2EA-BAC38690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817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Order testing early, but read the result deeply: specimen, timing, pathogenicity class, zygosity/loss, CDK12/ATM context, and neuroendocrine phenotype all change the discussion.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EC984-1CFE-4969-ACC0-A0297EBA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Sources: IP73-24 and IP73-27 original poster PDFs.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35D698-CCB1-4AA2-8AED-16D61D6E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35900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7EAE5-3435-4669-BD98-1DFC67F9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42E26-5632-4FB3-8986-117CC208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07E07-D716-460F-8055-454546A1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12BA9-9511-445D-B3FF-D8F571D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TOXICITY DURABILITY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1D66F-4189-48B3-A767-28B5FED0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hidden endpoint is clinic durability.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33D55-2DCC-4DC8-8085-5222878D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AUA 2026 toxicity posters make the same point: intensified therapy fails if adverse effects are handled as afterthoughts.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20BED-CEE6-4AED-A443-BF9ADF59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670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F3739-2626-49E3-8175-0E1B4266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FAB3D-1776-498F-8BFC-12357B42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270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A9A01-9961-4B8F-B29B-C5FE827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PC360 enrolled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458D6-6F3B-431E-8B15-C5694E7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5-domain ADT care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206F2-A27C-42D7-B17E-287F8867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0050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615C2-FD1D-455B-B0B8-3FAB6AF8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9DF7C-3574-42B5-93DC-424DD07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20.3%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DF2A4-E476-478D-94BD-0694D225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MRONJ at 3 yr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C45D0-026A-41CF-ADD4-25D7E956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denosumab cohort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F6D60-2C89-497C-89C3-6D8A2C5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00300"/>
            <a:ext cx="4953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52BCD-CC1B-45A6-9B8B-E224A720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43150"/>
            <a:ext cx="4953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AADAD-5A8F-41CF-AF6B-D4CAABDA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Supportive-care operating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E1236-A5D2-466E-81B2-7D604BE6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670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>
              <a:alpha val="13333"/>
            </a:srgbClr>
          </a:solidFill>
          <a:ln xmlns:a="http://schemas.openxmlformats.org/drawingml/2006/main" w="9525">
            <a:solidFill>
              <a:srgbClr val="FF3B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2B14A-278E-4C85-B9F4-4BD72234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Cardiometabolic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E0DC7-5432-489A-B91B-DA218CC0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>
              <a:alpha val="13333"/>
            </a:srgbClr>
          </a:solidFill>
          <a:ln xmlns:a="http://schemas.openxmlformats.org/drawingml/2006/main" w="9525">
            <a:solidFill>
              <a:srgbClr val="FF9F0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69882-A865-425A-A3D5-D86E2A5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Bone / dental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ABBAC-A2A4-49D1-9694-D22A8AD0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814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2DE">
              <a:alpha val="13333"/>
            </a:srgbClr>
          </a:solidFill>
          <a:ln xmlns:a="http://schemas.openxmlformats.org/drawingml/2006/main" w="9525">
            <a:solidFill>
              <a:srgbClr val="AF52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78668-3D96-4785-B96F-C44620E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Mood / cognition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4CD95-70CC-4C3C-AE68-E6A662C4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>
              <a:alpha val="13333"/>
            </a:srgbClr>
          </a:solidFill>
          <a:ln xmlns:a="http://schemas.openxmlformats.org/drawingml/2006/main" w="9525">
            <a:solidFill>
              <a:srgbClr val="34C75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EEBD2-5333-4C79-B5A5-223F5B04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Anemia / QoL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CC53BF-A6AD-447A-B03A-C43C7C7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>
              <a:alpha val="13333"/>
            </a:srgbClr>
          </a:solidFill>
          <a:ln xmlns:a="http://schemas.openxmlformats.org/drawingml/2006/main" w="9525">
            <a:solidFill>
              <a:srgbClr val="0071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7B73F8-A5EE-44B7-889F-B3B55528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Sexual health / exercise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10399F-C7A7-4EE5-98AC-396BFD9E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52750"/>
            <a:ext cx="2190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E41664-0E32-4A80-956C-07E699E5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190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C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1EC7F2-5826-4A46-A4FD-366888FD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76B1AB-F857-475F-8B50-37E48DFB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18478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endpoint is not only response; it is whether patients stay functional, monitored, and able to complete the intended treatment sequence.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05371D-1956-490D-9722-9F85793F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Talk track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4F0344-E3B1-4FF7-B6E4-301ED984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962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modern APC clinic needs standing workflows for bone, metabolic risk, mood, cognition, anemia, sexual health, exercise, dental review, and treatment completion.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686BBA-859A-4BD5-8C3A-1E3D166B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Sources: IP38-17, IP73-07, IP73-04, IP38-05 original poster PDFs.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F68243-7E8D-4371-A8AD-5B3B0C71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25571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CFC267-6379-4FD8-9C23-4F70B664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43FF0-F97C-4D11-AD58-21425A38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4F676-6FB6-4A14-93D4-870B294F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3B840-C983-409A-965A-E0FB6CAD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PRACTICE TRANSLATION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FDAC0-BD1F-4222-AE84-855A5805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What I would change after AUA 2026.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56266-8C7E-4815-A8A9-B7737698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 practical APC workflow for the Monday clinic: make the default visible, document the exceptions, and audit the pathway.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12C67-21E6-4C8F-ACB0-9B245FDA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C7498-D1A2-4070-9BFD-D54214B9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38400"/>
            <a:ext cx="723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35F1A-1CE9-4635-A5D6-8A1603E1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90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mHSPC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A3111-B9A8-4CAB-BCC1-2F5BCD76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Discuss ADT + ARPI early for eligible de novo metastatic patients.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A9DCC-54AE-47B6-9425-E12261D8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8F847-C152-4A13-8C10-6F22AA02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723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86FBC-6637-402F-99AF-7FCE168A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76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Triplet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C735D-730B-4B68-A0B5-B2FF8D34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Document volume, symptoms, fitness, chemo eligibility, and patient preference.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169C3-79C8-4B2B-A275-702BDD97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10F4D-D3BB-44CB-9ACC-498F8779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723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45CBE-F3EC-4B4C-BB19-7980CC74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624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PSMA/RLT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37AC2-833B-4308-90B8-744834C1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Predefine how progression will be called after Lu-177 PSMA exposure.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5F3BC-58C4-424A-8B66-7C1347DE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0E426-8B9A-4260-BB7C-CC99D0D6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95800"/>
            <a:ext cx="723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C7E3D-9D4D-4DC3-8491-0D97C86A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48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Variant 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E6A9E-30AB-4E9B-B412-968D6D9A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Capture germline, somatic, specimen, pathogenicity, and zygosity/loss.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26818-1FA8-45C4-A526-2F41505A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3B3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3B3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A8F8B-F3F9-40C6-BD53-178CAF37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81600"/>
            <a:ext cx="723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E8886F-90AC-4987-A68E-A6C74FE7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Toxicity clinic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D51FA-E18B-4F42-8375-98FECA2B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Build ADT/RLT supportive care into the pathway, not the rescue visit.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771330-6F5D-443A-8AA3-F930E06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C1C7B-66BF-4010-8CBC-F0168A8C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C1114-A843-4E2A-B60C-C45E69E6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BOTTOM 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AB76CC-E8B1-4237-AD7B-3C7E1FD2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1752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AUA 2026 is a prompt to redesign the advanced prostate cancer clinic around evidence selection, source documentation, and toxicity capacity.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0904DB-162E-4105-8363-B28F3753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Synthesis from AUA/SUO amendment, 040IC objectives, and selected AUA 2026 posters.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89B221-FD01-42D9-BFC4-8F9E0B00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9828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17918E-B06D-4A4F-9122-55C3D029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C3F91-DEC3-4DCC-B479-D7879327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7875F-6526-4D14-8C66-DCB39AF0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B376B-0FE7-4ED9-97F3-5C0FA3A7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ABSTRACT DIGEST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86D43-10D0-4D4E-BF6D-5DB74541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IP38-12 is the backbone abstract for the narrative.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EEA70-A1D3-4EAE-82D0-8E6DD83D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Use this when someone asks why the deck says intensification is now routine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D1406-A6E4-4803-8B87-F37D20C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24100"/>
            <a:ext cx="97726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139EA-760D-4BB2-9EA0-537186A2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97726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FB79F-40C1-49F3-A945-37EF7A8E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IP38-12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B686A-A0E0-457B-B5C3-4921ACB9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Uptake of doublet and triplet therapy for men with de novo metastatic castration-sensitive prostate cancer. Population-based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A410A-B2A9-4660-BD09-F507F623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B334D-BB80-49CB-BECF-1179528D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575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How much did upfront doublet/triplet treatment enter routine care, and did survival move in parallel?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ABD9A-A209-40B9-942B-C25064F5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Population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38D20-4C66-4EA4-8A1A-0357C633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9,294 men with de novo mCSPC in Sweden's NPCR, 2016-2024.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C61C4-EC5F-4C05-B5A2-ADD0FBC3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Key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94A77-221E-4E51-9DAD-BA694E96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Doublet uptake 19% -&gt; 66%; triplet 4% -&gt; 17%; 3-year OS 51% -&gt; 61%; among age &lt;65, 69% -&gt; 77%.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310C4-FFAF-4A74-9A5A-412CE9E2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Take-home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A45A4-9827-4793-82B4-5BC50FC1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434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Real-world treatment intensity increased, supporting early intensification while leaving patient selection unresolved.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207FC-48DF-4693-8CED-BE43CE0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Source: IP38-12 poster PDF and local fulltext extraction. This slide paraphrases the abstract instead of reproducing it verbatim.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09447-4689-43EA-9AB4-3A95AD4E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00639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7C8483-CBA7-45E4-9FEE-30857EF0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92629-C529-4CEE-BAAA-34351CB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30858-8EA2-4A9F-8488-E1419D2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A3DCC-3404-40D2-BFF5-37C54118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ABSTRACT DIGEST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A2B53-BA72-4160-9C72-5A9B3FEF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supporting abstracts make the workflow argument.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335B6-E820-4C39-9EC0-6416C6DE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These are the source-level pieces that turn a drug update into a clinic-model update.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D3EF4-E777-4B46-B193-A3D2E345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524EC-1CBF-44B2-B3D1-9D13D26C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IP38-13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96E79-6D98-4534-827B-EF4E6B4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574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Triplet selection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8044B-8549-4FD2-9666-C89F306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24150"/>
            <a:ext cx="790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Overall OS advantage was unclear; high-volume patients had higher probability of benefit, but clinically meaningful benefit remained modest.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85E26-882F-4639-B1FC-8C64A585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242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0461F-E93F-467D-B4EC-C3A1F0A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C91C4-D318-4E65-868A-F90E3882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IP73-14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3DEEE-A3A2-4568-AD3D-C5BA2D6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813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Implementation variation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230CF-3A0E-4F57-AC8F-2578F602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48050"/>
            <a:ext cx="790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Only 26.5% of older Ontario mHSPC patients received intensification; uptake rose to 59% by 2022, showing pathway improvement but not uniform delivery.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A7DA0-CBFD-4081-851A-E5C00EB3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F59B4-0AEA-4BAF-A04F-4B176705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2DC2D-9279-4697-9062-DE4646AB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IP73-16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F4459-BC3D-452F-A22F-B74CBFC9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052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Post-Lu-177 PSMA imaging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23905-218B-43B3-A7F5-569BD34B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71950"/>
            <a:ext cx="790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11C-Choline detected progression more frequently and at lower PSA than PSMA PET/CT in a retrospective post-RLT registry.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D0D2F-6A93-47AE-ACBC-FBB1F799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E0753-E38A-40B6-B466-73BBA3C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00348-F5FD-4287-A740-A8BDD39A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F52DE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AF52DE"/>
                </a:solidFill>
                <a:latin typeface="Avenir Next"/>
                <a:ea typeface="Avenir Next"/>
                <a:cs typeface="Avenir Next"/>
              </a:rPr>
              <a:t>IP73-24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3A49F-A64D-419A-8A16-2BD40AC1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291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Variant-level CGP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79255-1352-412E-BF99-CF01116D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95850"/>
            <a:ext cx="790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Variant-level BRCA interpretation provided prognostic and predictive information beyond binary BRCA status.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DFDFF-8DDC-4A05-AB74-4D65CA30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959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62CD6-9196-4EDA-B1BB-7B2CFBD8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DDE98-5E59-4D89-9B60-4D6F8296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768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IP38-17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D300E-2FBC-4221-97AF-59095241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530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PC360 ADT toxicity pathway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E63F5-5D3C-4866-8006-508CBEF9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19750"/>
            <a:ext cx="790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 multidisciplinary ADT care model enrolled 270 men and operationalized five domains of supportive care.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581A1-5B91-4A48-8FC6-1010630A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19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0B5A73-EDC2-4A77-9C9C-0364A8B6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Sources: selected original poster PDFs and local fulltext extraction; text is paraphrased.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E11AE7-8054-463B-A887-07A80571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659930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98988D-D512-4233-A635-F1689684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1C2AF-C9BA-496C-83ED-A01248E3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2E9E7-0206-47C2-8772-920CA7A8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E638C-7647-44DC-B028-0ACD3F38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ORIGINAL POSTER 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14B12-1E54-4AC6-AA38-E67DBD41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IP38-12: Uptake of doublet and triplet therapy in de novo mCSPC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5FCE3-E70F-4A08-A367-03D2BBE7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Rendered from the original local poster PDF; included as source appendix for internal presentation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E152B-BF77-41FC-A7B3-E25CEAF3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14450"/>
            <a:ext cx="111633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3FC0B-7A72-40A6-8668-DADEEDE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c1d85da9045b3"/>
          <a:stretch xmlns:a="http://schemas.openxmlformats.org/drawingml/2006/main"/>
        </p:blipFill>
        <p:spPr>
          <a:xfrm xmlns:a="http://schemas.openxmlformats.org/drawingml/2006/main">
            <a:off x="2610322" y="1333500"/>
            <a:ext cx="6971355" cy="4686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086A9-B5BC-4713-A0AF-AE6C848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Source: scraper/data/posters/IP38-12.pdf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D8AB8-024B-404E-B6CA-6E1E70F9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886824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A9A6D-0FAD-46BA-AB4B-3EE8933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68F44-5761-4263-84E3-635A9BCA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6BFCF-6FFB-4F49-A35B-60392266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D399A-33E8-445B-B8E8-E57B469F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ORIGINAL POSTER 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49DA4-D95C-40C8-87F7-8F037E7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IP38-13: Bayesian reanalysis of triplet vs doublet therapy in mHSPC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8FDE0-C561-488D-9B23-396AB34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Rendered from the original local poster PDF; included as source appendix for internal presentation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FD60A-2833-4369-9E04-32C1406D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14450"/>
            <a:ext cx="111633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4A5EB-AD9F-45E7-B868-CFE9841E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12c66485b45c2"/>
          <a:stretch xmlns:a="http://schemas.openxmlformats.org/drawingml/2006/main"/>
        </p:blipFill>
        <p:spPr>
          <a:xfrm xmlns:a="http://schemas.openxmlformats.org/drawingml/2006/main">
            <a:off x="2780222" y="1333500"/>
            <a:ext cx="6631557" cy="4686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A3377-3E0D-42E3-A9EC-FD4A4A36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Source: scraper/data/posters/IP38-13.pdf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50DE9-EDE4-42A5-91D9-9228D2E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027097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B7C0A-E26A-441B-9F7A-47F5D5B0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7DCA7-AF75-485D-AA05-61733B24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87917-C3D3-4A14-89E6-5D4E29F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D0989-B147-49E9-96D2-8D71625E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ORIGINAL POSTER 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B45E3-40E2-428A-BEDF-6D1D19AD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IP73-16: PSMA PET/CT and 11C-Choline after Lu-177 PSMA therapy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11C39-F077-4928-8BC4-9B772A4D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Rendered from the original local poster PDF; included as source appendix for internal presentation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8F435-5959-4ACD-B7B7-0475D37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14450"/>
            <a:ext cx="111633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04EE6-7B62-4698-98FF-C103E64E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73831dbe546db"/>
          <a:stretch xmlns:a="http://schemas.openxmlformats.org/drawingml/2006/main"/>
        </p:blipFill>
        <p:spPr>
          <a:xfrm xmlns:a="http://schemas.openxmlformats.org/drawingml/2006/main">
            <a:off x="1932456" y="1333500"/>
            <a:ext cx="8327088" cy="4686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13617-1F2D-47BC-B5EF-43E25205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Source: scraper/data/posters/IP73-16.pdf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FAA8E-2B26-4C1A-AD4B-327B9827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40938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616F5-D94F-4652-BA0F-F9B5E3D0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156AE-ADB3-461D-A13F-57944B53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EC28E-5A11-424D-BA8A-ED9995D7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7D63D-221A-4E1A-A576-F3B42517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ORIGINAL POSTER 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38CC6-F49A-48F7-AD21-B8DB19FE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IP73-24: CGP landscape and BRCA1/2 pathogenic variants in mCRPC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6C74B-0EAF-49D3-AD68-D1AFEB5A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Rendered from the original local poster PDF; included as source appendix for internal presentation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32AA4-B8C7-4DDC-A8D6-07EA3620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14450"/>
            <a:ext cx="111633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AFE92-8289-4691-9F6E-1BBDD73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fad120b7c4643"/>
          <a:stretch xmlns:a="http://schemas.openxmlformats.org/drawingml/2006/main"/>
        </p:blipFill>
        <p:spPr>
          <a:xfrm xmlns:a="http://schemas.openxmlformats.org/drawingml/2006/main">
            <a:off x="2971800" y="1333500"/>
            <a:ext cx="6248400" cy="4686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D3EF1-EF70-4754-9402-C10AF8FC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Source: scraper/data/posters/IP73-24.pdf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9B9DC-1783-40EC-9305-B45E9321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11562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2026-05-17T01:31:25.0890000Z</dcterms:created>
  <dcterms:modified xsi:type="dcterms:W3CDTF">2026-05-17T01:31:25.0890000Z</dcterms:modified>
</coreProperties>
</file>