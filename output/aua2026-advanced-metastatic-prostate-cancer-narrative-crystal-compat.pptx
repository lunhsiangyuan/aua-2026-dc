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11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s/slide6.xml" ContentType="application/vnd.openxmlformats-officedocument.presentationml.slide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ppt/slides/slide5.xml" ContentType="application/vnd.openxmlformats-officedocument.presentationml.slide+xml"/>
  <Override PartName="/ppt/slides/slide1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7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8A2379B9-C126-4FB2-80E1-F54B30CA3E0E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4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7" name="PlaceHolder 3"/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4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0" name="PlaceHolder 3"/>
          <p:cNvSpPr>
            <a:spLocks noGrp="1"/>
          </p:cNvSpPr>
          <p:nvPr>
            <p:ph type="sldNum" idx="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5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3" name="PlaceHolder 3"/>
          <p:cNvSpPr>
            <a:spLocks noGrp="1"/>
          </p:cNvSpPr>
          <p:nvPr>
            <p:ph type="sldNum" idx="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5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6" name="PlaceHolder 3"/>
          <p:cNvSpPr>
            <a:spLocks noGrp="1"/>
          </p:cNvSpPr>
          <p:nvPr>
            <p:ph type="sldNum" idx="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5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9" name="PlaceHolder 3"/>
          <p:cNvSpPr>
            <a:spLocks noGrp="1"/>
          </p:cNvSpPr>
          <p:nvPr>
            <p:ph type="sldNum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6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2" name="PlaceHolder 3"/>
          <p:cNvSpPr>
            <a:spLocks noGrp="1"/>
          </p:cNvSpPr>
          <p:nvPr>
            <p:ph type="sldNum" idx="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6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5" name="PlaceHolder 3"/>
          <p:cNvSpPr>
            <a:spLocks noGrp="1"/>
          </p:cNvSpPr>
          <p:nvPr>
            <p:ph type="sldNum" idx="1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6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8" name="PlaceHolder 3"/>
          <p:cNvSpPr>
            <a:spLocks noGrp="1"/>
          </p:cNvSpPr>
          <p:nvPr>
            <p:ph type="sldNum" idx="1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7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1" name="PlaceHolder 3"/>
          <p:cNvSpPr>
            <a:spLocks noGrp="1"/>
          </p:cNvSpPr>
          <p:nvPr>
            <p:ph type="sldNum" idx="1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7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4" name="PlaceHolder 3"/>
          <p:cNvSpPr>
            <a:spLocks noGrp="1"/>
          </p:cNvSpPr>
          <p:nvPr>
            <p:ph type="sldNum" idx="1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7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7" name="PlaceHolder 3"/>
          <p:cNvSpPr>
            <a:spLocks noGrp="1"/>
          </p:cNvSpPr>
          <p:nvPr>
            <p:ph type="sldNum" idx="1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7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0" name="PlaceHolder 3"/>
          <p:cNvSpPr>
            <a:spLocks noGrp="1"/>
          </p:cNvSpPr>
          <p:nvPr>
            <p:ph type="sldNum" idx="1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8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3" name="PlaceHolder 3"/>
          <p:cNvSpPr>
            <a:spLocks noGrp="1"/>
          </p:cNvSpPr>
          <p:nvPr>
            <p:ph type="sldNum" idx="1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8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6" name="PlaceHolder 3"/>
          <p:cNvSpPr>
            <a:spLocks noGrp="1"/>
          </p:cNvSpPr>
          <p:nvPr>
            <p:ph type="sldNum" idx="1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8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9" name="PlaceHolder 3"/>
          <p:cNvSpPr>
            <a:spLocks noGrp="1"/>
          </p:cNvSpPr>
          <p:nvPr>
            <p:ph type="sldNum" idx="1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9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2" name="PlaceHolder 3"/>
          <p:cNvSpPr>
            <a:spLocks noGrp="1"/>
          </p:cNvSpPr>
          <p:nvPr>
            <p:ph type="sldNum" idx="1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>
              <a:buNone/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BFBFD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"/>
          <p:cNvSpPr/>
          <p:nvPr/>
        </p:nvSpPr>
        <p:spPr>
          <a:xfrm>
            <a:off x="0" y="0"/>
            <a:ext cx="12191760" cy="56880"/>
          </a:xfrm>
          <a:prstGeom prst="rect">
            <a:avLst/>
          </a:prstGeom>
          <a:solidFill>
            <a:srgbClr val="0071E3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12240" rIns="90000" bIns="122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"/>
          <p:cNvSpPr/>
          <p:nvPr/>
        </p:nvSpPr>
        <p:spPr>
          <a:xfrm>
            <a:off x="685800" y="781200"/>
            <a:ext cx="704520" cy="28080"/>
          </a:xfrm>
          <a:prstGeom prst="rect">
            <a:avLst/>
          </a:prstGeom>
          <a:solidFill>
            <a:srgbClr val="0071E3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16560" rIns="90000" bIns="-1656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"/>
          <p:cNvSpPr/>
          <p:nvPr/>
        </p:nvSpPr>
        <p:spPr>
          <a:xfrm>
            <a:off x="685800" y="1104840"/>
            <a:ext cx="2476080" cy="2854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30" b="1" u="none" strike="noStrike">
                <a:solidFill>
                  <a:srgbClr val="6E6E73"/>
                </a:solidFill>
                <a:effectLst/>
                <a:uFillTx/>
                <a:latin typeface="Avenir Next"/>
                <a:ea typeface="Avenir Next"/>
              </a:rPr>
              <a:t>AUA 2026</a:t>
            </a:r>
            <a:endParaRPr lang="en-US" sz="14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"/>
          <p:cNvSpPr/>
          <p:nvPr/>
        </p:nvSpPr>
        <p:spPr>
          <a:xfrm>
            <a:off x="685800" y="1600200"/>
            <a:ext cx="6476760" cy="15426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200" b="1" u="none" strike="noStrike">
                <a:solidFill>
                  <a:srgbClr val="111111"/>
                </a:solidFill>
                <a:effectLst/>
                <a:uFillTx/>
                <a:latin typeface="Avenir Next"/>
                <a:ea typeface="Avenir Next"/>
              </a:rPr>
              <a:t>Advanced &amp; Metastatic</a:t>
            </a:r>
            <a:endParaRPr lang="en-US" sz="4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200" b="1" u="none" strike="noStrike">
                <a:solidFill>
                  <a:srgbClr val="111111"/>
                </a:solidFill>
                <a:effectLst/>
                <a:uFillTx/>
                <a:latin typeface="Avenir Next"/>
                <a:ea typeface="Avenir Next"/>
              </a:rPr>
              <a:t>Prostate Cancer</a:t>
            </a:r>
            <a:endParaRPr lang="en-US" sz="4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"/>
          <p:cNvSpPr/>
          <p:nvPr/>
        </p:nvSpPr>
        <p:spPr>
          <a:xfrm>
            <a:off x="723960" y="3371760"/>
            <a:ext cx="5905080" cy="3427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6E6E73"/>
                </a:solidFill>
                <a:effectLst/>
                <a:uFillTx/>
                <a:latin typeface="Avenir Next"/>
                <a:ea typeface="Avenir Next"/>
              </a:rPr>
              <a:t>Narrative update with abstract digests and original poster appendix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"/>
          <p:cNvSpPr/>
          <p:nvPr/>
        </p:nvSpPr>
        <p:spPr>
          <a:xfrm>
            <a:off x="723960" y="3981600"/>
            <a:ext cx="3428640" cy="2282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6E6E73"/>
                </a:solidFill>
                <a:effectLst/>
                <a:uFillTx/>
                <a:latin typeface="Avenir Next"/>
                <a:ea typeface="Avenir Next"/>
              </a:rPr>
              <a:t>Washington, DC | May 2026</a:t>
            </a:r>
            <a:endParaRPr lang="en-US" sz="1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"/>
          <p:cNvSpPr/>
          <p:nvPr/>
        </p:nvSpPr>
        <p:spPr>
          <a:xfrm>
            <a:off x="8143920" y="1447920"/>
            <a:ext cx="1695240" cy="1028520"/>
          </a:xfrm>
          <a:prstGeom prst="rect">
            <a:avLst/>
          </a:prstGeom>
          <a:solidFill>
            <a:srgbClr val="EEF2F8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"/>
          <p:cNvSpPr/>
          <p:nvPr/>
        </p:nvSpPr>
        <p:spPr>
          <a:xfrm>
            <a:off x="8096400" y="1390680"/>
            <a:ext cx="1695240" cy="1028520"/>
          </a:xfrm>
          <a:prstGeom prst="rect">
            <a:avLst/>
          </a:prstGeom>
          <a:solidFill>
            <a:srgbClr val="FFFFFF"/>
          </a:solidFill>
          <a:ln w="9525">
            <a:solidFill>
              <a:srgbClr val="D2D2D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"/>
          <p:cNvSpPr/>
          <p:nvPr/>
        </p:nvSpPr>
        <p:spPr>
          <a:xfrm>
            <a:off x="8267760" y="1562040"/>
            <a:ext cx="1352160" cy="3614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20" b="1" u="none" strike="noStrike">
                <a:solidFill>
                  <a:srgbClr val="0071E3"/>
                </a:solidFill>
                <a:effectLst/>
                <a:uFillTx/>
                <a:latin typeface="Avenir Next"/>
                <a:ea typeface="Avenir Next"/>
              </a:rPr>
              <a:t>72</a:t>
            </a:r>
            <a:endParaRPr lang="en-US" sz="26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"/>
          <p:cNvSpPr/>
          <p:nvPr/>
        </p:nvSpPr>
        <p:spPr>
          <a:xfrm>
            <a:off x="8267760" y="1962000"/>
            <a:ext cx="1352160" cy="171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1" u="none" strike="noStrike">
                <a:solidFill>
                  <a:srgbClr val="111111"/>
                </a:solidFill>
                <a:effectLst/>
                <a:uFillTx/>
                <a:latin typeface="Avenir Next"/>
                <a:ea typeface="Avenir Next"/>
              </a:rPr>
              <a:t>advanced-session items</a:t>
            </a:r>
            <a:endParaRPr lang="en-US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"/>
          <p:cNvSpPr/>
          <p:nvPr/>
        </p:nvSpPr>
        <p:spPr>
          <a:xfrm>
            <a:off x="8267760" y="2152800"/>
            <a:ext cx="1352160" cy="1900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10" b="0" u="none" strike="noStrike">
                <a:solidFill>
                  <a:srgbClr val="6E6E73"/>
                </a:solidFill>
                <a:effectLst/>
                <a:uFillTx/>
                <a:latin typeface="Avenir Next"/>
                <a:ea typeface="Avenir Next"/>
              </a:rPr>
              <a:t>IP38 + PD23 + IP73</a:t>
            </a:r>
            <a:endParaRPr lang="en-US" sz="7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"/>
          <p:cNvSpPr/>
          <p:nvPr/>
        </p:nvSpPr>
        <p:spPr>
          <a:xfrm>
            <a:off x="8143920" y="2666880"/>
            <a:ext cx="1695240" cy="1028520"/>
          </a:xfrm>
          <a:prstGeom prst="rect">
            <a:avLst/>
          </a:prstGeom>
          <a:solidFill>
            <a:srgbClr val="EEF2F8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"/>
          <p:cNvSpPr/>
          <p:nvPr/>
        </p:nvSpPr>
        <p:spPr>
          <a:xfrm>
            <a:off x="8096400" y="2610000"/>
            <a:ext cx="1695240" cy="1028520"/>
          </a:xfrm>
          <a:prstGeom prst="rect">
            <a:avLst/>
          </a:prstGeom>
          <a:solidFill>
            <a:srgbClr val="FFFFFF"/>
          </a:solidFill>
          <a:ln w="9525">
            <a:solidFill>
              <a:srgbClr val="D2D2D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"/>
          <p:cNvSpPr/>
          <p:nvPr/>
        </p:nvSpPr>
        <p:spPr>
          <a:xfrm>
            <a:off x="8267760" y="2781360"/>
            <a:ext cx="1352160" cy="3614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20" b="1" u="none" strike="noStrike">
                <a:solidFill>
                  <a:srgbClr val="FF9F0A"/>
                </a:solidFill>
                <a:effectLst/>
                <a:uFillTx/>
                <a:latin typeface="Avenir Next"/>
                <a:ea typeface="Avenir Next"/>
              </a:rPr>
              <a:t>6</a:t>
            </a:r>
            <a:endParaRPr lang="en-US" sz="26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"/>
          <p:cNvSpPr/>
          <p:nvPr/>
        </p:nvSpPr>
        <p:spPr>
          <a:xfrm>
            <a:off x="8267760" y="3181320"/>
            <a:ext cx="1352160" cy="171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1" u="none" strike="noStrike">
                <a:solidFill>
                  <a:srgbClr val="111111"/>
                </a:solidFill>
                <a:effectLst/>
                <a:uFillTx/>
                <a:latin typeface="Avenir Next"/>
                <a:ea typeface="Avenir Next"/>
              </a:rPr>
              <a:t>original posters</a:t>
            </a:r>
            <a:endParaRPr lang="en-US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"/>
          <p:cNvSpPr/>
          <p:nvPr/>
        </p:nvSpPr>
        <p:spPr>
          <a:xfrm>
            <a:off x="8267760" y="3371760"/>
            <a:ext cx="1352160" cy="1900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10" b="0" u="none" strike="noStrike">
                <a:solidFill>
                  <a:srgbClr val="6E6E73"/>
                </a:solidFill>
                <a:effectLst/>
                <a:uFillTx/>
                <a:latin typeface="Avenir Next"/>
                <a:ea typeface="Avenir Next"/>
              </a:rPr>
              <a:t>attached as source pack</a:t>
            </a:r>
            <a:endParaRPr lang="en-US" sz="7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"/>
          <p:cNvSpPr/>
          <p:nvPr/>
        </p:nvSpPr>
        <p:spPr>
          <a:xfrm>
            <a:off x="8143920" y="3886200"/>
            <a:ext cx="1695240" cy="1028520"/>
          </a:xfrm>
          <a:prstGeom prst="rect">
            <a:avLst/>
          </a:prstGeom>
          <a:solidFill>
            <a:srgbClr val="EEF2F8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"/>
          <p:cNvSpPr/>
          <p:nvPr/>
        </p:nvSpPr>
        <p:spPr>
          <a:xfrm>
            <a:off x="8096400" y="3828960"/>
            <a:ext cx="1695240" cy="1028520"/>
          </a:xfrm>
          <a:prstGeom prst="rect">
            <a:avLst/>
          </a:prstGeom>
          <a:solidFill>
            <a:srgbClr val="FFFFFF"/>
          </a:solidFill>
          <a:ln w="9525">
            <a:solidFill>
              <a:srgbClr val="D2D2D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"/>
          <p:cNvSpPr/>
          <p:nvPr/>
        </p:nvSpPr>
        <p:spPr>
          <a:xfrm>
            <a:off x="8267760" y="4000680"/>
            <a:ext cx="1352160" cy="3614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20" b="1" u="none" strike="noStrike">
                <a:solidFill>
                  <a:srgbClr val="AF52DE"/>
                </a:solidFill>
                <a:effectLst/>
                <a:uFillTx/>
                <a:latin typeface="Avenir Next"/>
                <a:ea typeface="Avenir Next"/>
              </a:rPr>
              <a:t>40</a:t>
            </a:r>
            <a:endParaRPr lang="en-US" sz="26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"/>
          <p:cNvSpPr/>
          <p:nvPr/>
        </p:nvSpPr>
        <p:spPr>
          <a:xfrm>
            <a:off x="8267760" y="4400640"/>
            <a:ext cx="1352160" cy="171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1" u="none" strike="noStrike">
                <a:solidFill>
                  <a:srgbClr val="111111"/>
                </a:solidFill>
                <a:effectLst/>
                <a:uFillTx/>
                <a:latin typeface="Avenir Next"/>
                <a:ea typeface="Avenir Next"/>
              </a:rPr>
              <a:t>guideline recs</a:t>
            </a:r>
            <a:endParaRPr lang="en-US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"/>
          <p:cNvSpPr/>
          <p:nvPr/>
        </p:nvSpPr>
        <p:spPr>
          <a:xfrm>
            <a:off x="8267760" y="4591080"/>
            <a:ext cx="1352160" cy="1900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10" b="0" u="none" strike="noStrike">
                <a:solidFill>
                  <a:srgbClr val="6E6E73"/>
                </a:solidFill>
                <a:effectLst/>
                <a:uFillTx/>
                <a:latin typeface="Avenir Next"/>
                <a:ea typeface="Avenir Next"/>
              </a:rPr>
              <a:t>AUA/SUO 2026 amendment</a:t>
            </a:r>
            <a:endParaRPr lang="en-US" sz="7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"/>
          <p:cNvSpPr/>
          <p:nvPr/>
        </p:nvSpPr>
        <p:spPr>
          <a:xfrm>
            <a:off x="723960" y="5334120"/>
            <a:ext cx="1142640" cy="1519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0071E3"/>
                </a:solidFill>
                <a:effectLst/>
                <a:uFillTx/>
                <a:latin typeface="Avenir Next"/>
                <a:ea typeface="Avenir Next"/>
              </a:rPr>
              <a:t>Speaker line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"/>
          <p:cNvSpPr/>
          <p:nvPr/>
        </p:nvSpPr>
        <p:spPr>
          <a:xfrm>
            <a:off x="723960" y="5543640"/>
            <a:ext cx="8381520" cy="3045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80" b="0" u="none" strike="noStrike">
                <a:solidFill>
                  <a:srgbClr val="111111"/>
                </a:solidFill>
                <a:effectLst/>
                <a:uFillTx/>
                <a:latin typeface="Avenir Next"/>
                <a:ea typeface="Avenir Next"/>
              </a:rPr>
              <a:t>The useful update is not a list of new agents. It is a cleaner way to run an advanced prostate cancer clinic.</a:t>
            </a:r>
            <a:endParaRPr lang="en-US" sz="15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"/>
          <p:cNvSpPr/>
          <p:nvPr/>
        </p:nvSpPr>
        <p:spPr>
          <a:xfrm>
            <a:off x="685800" y="6477120"/>
            <a:ext cx="8953200" cy="171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10" b="0" u="none" strike="noStrike">
                <a:solidFill>
                  <a:srgbClr val="6E6E73"/>
                </a:solidFill>
                <a:effectLst/>
                <a:uFillTx/>
                <a:latin typeface="Avenir Next"/>
                <a:ea typeface="Avenir Next"/>
              </a:rPr>
              <a:t>Sources: AUA 2026 program; AUA/SUO APC guideline amendment; local AUA abstract/poster corpus.</a:t>
            </a:r>
            <a:endParaRPr lang="en-US" sz="7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"/>
          <p:cNvSpPr/>
          <p:nvPr/>
        </p:nvSpPr>
        <p:spPr>
          <a:xfrm>
            <a:off x="11049120" y="6419880"/>
            <a:ext cx="456840" cy="2282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6E6E73"/>
                </a:solidFill>
                <a:effectLst/>
                <a:uFillTx/>
                <a:latin typeface="Avenir Next"/>
                <a:ea typeface="Avenir Next"/>
              </a:rPr>
              <a:t>01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BFBFD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"/>
          <p:cNvSpPr/>
          <p:nvPr/>
        </p:nvSpPr>
        <p:spPr>
          <a:xfrm>
            <a:off x="0" y="0"/>
            <a:ext cx="12191760" cy="56880"/>
          </a:xfrm>
          <a:prstGeom prst="rect">
            <a:avLst/>
          </a:prstGeom>
          <a:solidFill>
            <a:srgbClr val="0071E3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12240" rIns="90000" bIns="122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"/>
          <p:cNvSpPr/>
          <p:nvPr/>
        </p:nvSpPr>
        <p:spPr>
          <a:xfrm>
            <a:off x="685800" y="476280"/>
            <a:ext cx="85320" cy="85320"/>
          </a:xfrm>
          <a:prstGeom prst="ellipse">
            <a:avLst/>
          </a:prstGeom>
          <a:solidFill>
            <a:srgbClr val="0071E3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15840" rIns="90000" bIns="158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"/>
          <p:cNvSpPr/>
          <p:nvPr/>
        </p:nvSpPr>
        <p:spPr>
          <a:xfrm>
            <a:off x="857160" y="438120"/>
            <a:ext cx="3428640" cy="1900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6E6E73"/>
                </a:solidFill>
                <a:effectLst/>
                <a:uFillTx/>
                <a:latin typeface="Avenir Next"/>
                <a:ea typeface="Avenir Next"/>
              </a:rPr>
              <a:t>CLAIM SPINE</a:t>
            </a:r>
            <a:endParaRPr lang="en-US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"/>
          <p:cNvSpPr/>
          <p:nvPr/>
        </p:nvSpPr>
        <p:spPr>
          <a:xfrm>
            <a:off x="685800" y="800280"/>
            <a:ext cx="8096040" cy="8758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111111"/>
                </a:solidFill>
                <a:effectLst/>
                <a:uFillTx/>
                <a:latin typeface="Avenir Next"/>
                <a:ea typeface="Avenir Next"/>
              </a:rPr>
              <a:t>Not one breakthrough. A new operating model.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"/>
          <p:cNvSpPr/>
          <p:nvPr/>
        </p:nvSpPr>
        <p:spPr>
          <a:xfrm>
            <a:off x="685800" y="1981080"/>
            <a:ext cx="8286480" cy="4186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6E6E73"/>
                </a:solidFill>
                <a:effectLst/>
                <a:uFillTx/>
                <a:latin typeface="Avenir Next"/>
                <a:ea typeface="Avenir Next"/>
              </a:rPr>
              <a:t>AUA 2026 connects treatment intensification, imaging, genomics, and toxicity management into one clinical workflow.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"/>
          <p:cNvSpPr/>
          <p:nvPr/>
        </p:nvSpPr>
        <p:spPr>
          <a:xfrm>
            <a:off x="828720" y="3600360"/>
            <a:ext cx="2323800" cy="1428480"/>
          </a:xfrm>
          <a:prstGeom prst="rect">
            <a:avLst/>
          </a:prstGeom>
          <a:solidFill>
            <a:srgbClr val="EEF2F8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"/>
          <p:cNvSpPr/>
          <p:nvPr/>
        </p:nvSpPr>
        <p:spPr>
          <a:xfrm>
            <a:off x="781200" y="3543480"/>
            <a:ext cx="2323800" cy="1428480"/>
          </a:xfrm>
          <a:prstGeom prst="rect">
            <a:avLst/>
          </a:prstGeom>
          <a:solidFill>
            <a:srgbClr val="DCEBFF"/>
          </a:solidFill>
          <a:ln w="9525">
            <a:solidFill>
              <a:srgbClr val="D2D2D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"/>
          <p:cNvSpPr/>
          <p:nvPr/>
        </p:nvSpPr>
        <p:spPr>
          <a:xfrm>
            <a:off x="952560" y="3695760"/>
            <a:ext cx="1980720" cy="1519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0071E3"/>
                </a:solidFill>
                <a:effectLst/>
                <a:uFillTx/>
                <a:latin typeface="Avenir Next"/>
                <a:ea typeface="Avenir Next"/>
              </a:rPr>
              <a:t>INTENSIFY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"/>
          <p:cNvSpPr/>
          <p:nvPr/>
        </p:nvSpPr>
        <p:spPr>
          <a:xfrm>
            <a:off x="952560" y="3943440"/>
            <a:ext cx="1980720" cy="9140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111111"/>
                </a:solidFill>
                <a:effectLst/>
                <a:uFillTx/>
                <a:latin typeface="Avenir Next"/>
                <a:ea typeface="Avenir Next"/>
              </a:rPr>
              <a:t>Doublet therapy is no longer exotic; the real question is who needs triplet therapy.</a:t>
            </a:r>
            <a:endParaRPr lang="en-US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"/>
          <p:cNvSpPr/>
          <p:nvPr/>
        </p:nvSpPr>
        <p:spPr>
          <a:xfrm>
            <a:off x="3552840" y="3600360"/>
            <a:ext cx="2323800" cy="1428480"/>
          </a:xfrm>
          <a:prstGeom prst="rect">
            <a:avLst/>
          </a:prstGeom>
          <a:solidFill>
            <a:srgbClr val="EEF2F8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"/>
          <p:cNvSpPr/>
          <p:nvPr/>
        </p:nvSpPr>
        <p:spPr>
          <a:xfrm>
            <a:off x="3505320" y="3543480"/>
            <a:ext cx="2323800" cy="1428480"/>
          </a:xfrm>
          <a:prstGeom prst="rect">
            <a:avLst/>
          </a:prstGeom>
          <a:solidFill>
            <a:srgbClr val="FFF3DD"/>
          </a:solidFill>
          <a:ln w="9525">
            <a:solidFill>
              <a:srgbClr val="D2D2D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"/>
          <p:cNvSpPr/>
          <p:nvPr/>
        </p:nvSpPr>
        <p:spPr>
          <a:xfrm>
            <a:off x="3676680" y="3695760"/>
            <a:ext cx="1980720" cy="1519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FF9F0A"/>
                </a:solidFill>
                <a:effectLst/>
                <a:uFillTx/>
                <a:latin typeface="Avenir Next"/>
                <a:ea typeface="Avenir Next"/>
              </a:rPr>
              <a:t>SELECT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"/>
          <p:cNvSpPr/>
          <p:nvPr/>
        </p:nvSpPr>
        <p:spPr>
          <a:xfrm>
            <a:off x="3676680" y="3943440"/>
            <a:ext cx="1980720" cy="9140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111111"/>
                </a:solidFill>
                <a:effectLst/>
                <a:uFillTx/>
                <a:latin typeface="Avenir Next"/>
                <a:ea typeface="Avenir Next"/>
              </a:rPr>
              <a:t>The triplet signal is clinically plausible, but not uniform enough to become an automatic reflex.</a:t>
            </a:r>
            <a:endParaRPr lang="en-US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"/>
          <p:cNvSpPr/>
          <p:nvPr/>
        </p:nvSpPr>
        <p:spPr>
          <a:xfrm>
            <a:off x="6276960" y="3600360"/>
            <a:ext cx="2323800" cy="1428480"/>
          </a:xfrm>
          <a:prstGeom prst="rect">
            <a:avLst/>
          </a:prstGeom>
          <a:solidFill>
            <a:srgbClr val="EEF2F8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"/>
          <p:cNvSpPr/>
          <p:nvPr/>
        </p:nvSpPr>
        <p:spPr>
          <a:xfrm>
            <a:off x="6229440" y="3543480"/>
            <a:ext cx="2323800" cy="1428480"/>
          </a:xfrm>
          <a:prstGeom prst="rect">
            <a:avLst/>
          </a:prstGeom>
          <a:solidFill>
            <a:srgbClr val="F4E7FB"/>
          </a:solidFill>
          <a:ln w="9525">
            <a:solidFill>
              <a:srgbClr val="D2D2D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"/>
          <p:cNvSpPr/>
          <p:nvPr/>
        </p:nvSpPr>
        <p:spPr>
          <a:xfrm>
            <a:off x="6400800" y="3695760"/>
            <a:ext cx="1980720" cy="1519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AF52DE"/>
                </a:solidFill>
                <a:effectLst/>
                <a:uFillTx/>
                <a:latin typeface="Avenir Next"/>
                <a:ea typeface="Avenir Next"/>
              </a:rPr>
              <a:t>IMAGE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"/>
          <p:cNvSpPr/>
          <p:nvPr/>
        </p:nvSpPr>
        <p:spPr>
          <a:xfrm>
            <a:off x="6400800" y="3943440"/>
            <a:ext cx="1980720" cy="9140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111111"/>
                </a:solidFill>
                <a:effectLst/>
                <a:uFillTx/>
                <a:latin typeface="Avenir Next"/>
                <a:ea typeface="Avenir Next"/>
              </a:rPr>
              <a:t>PSMA PET is central, yet post-RLT monitoring may need more than one tracer story.</a:t>
            </a:r>
            <a:endParaRPr lang="en-US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"/>
          <p:cNvSpPr/>
          <p:nvPr/>
        </p:nvSpPr>
        <p:spPr>
          <a:xfrm>
            <a:off x="9001080" y="3600360"/>
            <a:ext cx="2323800" cy="1428480"/>
          </a:xfrm>
          <a:prstGeom prst="rect">
            <a:avLst/>
          </a:prstGeom>
          <a:solidFill>
            <a:srgbClr val="EEF2F8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"/>
          <p:cNvSpPr/>
          <p:nvPr/>
        </p:nvSpPr>
        <p:spPr>
          <a:xfrm>
            <a:off x="8953560" y="3543480"/>
            <a:ext cx="2323800" cy="1428480"/>
          </a:xfrm>
          <a:prstGeom prst="rect">
            <a:avLst/>
          </a:prstGeom>
          <a:solidFill>
            <a:srgbClr val="E6F7EC"/>
          </a:solidFill>
          <a:ln w="9525">
            <a:solidFill>
              <a:srgbClr val="D2D2D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"/>
          <p:cNvSpPr/>
          <p:nvPr/>
        </p:nvSpPr>
        <p:spPr>
          <a:xfrm>
            <a:off x="9124920" y="3695760"/>
            <a:ext cx="1980720" cy="1519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34C759"/>
                </a:solidFill>
                <a:effectLst/>
                <a:uFillTx/>
                <a:latin typeface="Avenir Next"/>
                <a:ea typeface="Avenir Next"/>
              </a:rPr>
              <a:t>SUSTAIN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"/>
          <p:cNvSpPr/>
          <p:nvPr/>
        </p:nvSpPr>
        <p:spPr>
          <a:xfrm>
            <a:off x="9124920" y="3943440"/>
            <a:ext cx="1980720" cy="9140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111111"/>
                </a:solidFill>
                <a:effectLst/>
                <a:uFillTx/>
                <a:latin typeface="Avenir Next"/>
                <a:ea typeface="Avenir Next"/>
              </a:rPr>
              <a:t>The endpoint is not only response. It is whether the clinic can keep patients safely on therapy.</a:t>
            </a:r>
            <a:endParaRPr lang="en-US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"/>
          <p:cNvSpPr/>
          <p:nvPr/>
        </p:nvSpPr>
        <p:spPr>
          <a:xfrm>
            <a:off x="781200" y="5467320"/>
            <a:ext cx="1142640" cy="1519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0071E3"/>
                </a:solidFill>
                <a:effectLst/>
                <a:uFillTx/>
                <a:latin typeface="Avenir Next"/>
                <a:ea typeface="Avenir Next"/>
              </a:rPr>
              <a:t>Talk track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"/>
          <p:cNvSpPr/>
          <p:nvPr/>
        </p:nvSpPr>
        <p:spPr>
          <a:xfrm>
            <a:off x="781200" y="5676840"/>
            <a:ext cx="9334080" cy="3236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30" b="0" u="none" strike="noStrike">
                <a:solidFill>
                  <a:srgbClr val="111111"/>
                </a:solidFill>
                <a:effectLst/>
                <a:uFillTx/>
                <a:latin typeface="Avenir Next"/>
                <a:ea typeface="Avenir Next"/>
              </a:rPr>
              <a:t>I would present this as a clinic-design update: under-treatment and over-treatment now happen in the same room, and the answer is workflow discipline.</a:t>
            </a:r>
            <a:endParaRPr lang="en-US" sz="14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"/>
          <p:cNvSpPr/>
          <p:nvPr/>
        </p:nvSpPr>
        <p:spPr>
          <a:xfrm>
            <a:off x="685800" y="6477120"/>
            <a:ext cx="8953200" cy="171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10" b="0" u="none" strike="noStrike">
                <a:solidFill>
                  <a:srgbClr val="6E6E73"/>
                </a:solidFill>
                <a:effectLst/>
                <a:uFillTx/>
                <a:latin typeface="Avenir Next"/>
                <a:ea typeface="Avenir Next"/>
              </a:rPr>
              <a:t>Narrative synthesis from AUA advanced prostate cancer sessions and poster abstracts.</a:t>
            </a:r>
            <a:endParaRPr lang="en-US" sz="7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"/>
          <p:cNvSpPr/>
          <p:nvPr/>
        </p:nvSpPr>
        <p:spPr>
          <a:xfrm>
            <a:off x="11049120" y="6419880"/>
            <a:ext cx="456840" cy="2282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6E6E73"/>
                </a:solidFill>
                <a:effectLst/>
                <a:uFillTx/>
                <a:latin typeface="Avenir Next"/>
                <a:ea typeface="Avenir Next"/>
              </a:rPr>
              <a:t>02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BFBFD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"/>
          <p:cNvSpPr/>
          <p:nvPr/>
        </p:nvSpPr>
        <p:spPr>
          <a:xfrm>
            <a:off x="0" y="0"/>
            <a:ext cx="12191760" cy="56880"/>
          </a:xfrm>
          <a:prstGeom prst="rect">
            <a:avLst/>
          </a:prstGeom>
          <a:solidFill>
            <a:srgbClr val="0071E3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12240" rIns="90000" bIns="122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"/>
          <p:cNvSpPr/>
          <p:nvPr/>
        </p:nvSpPr>
        <p:spPr>
          <a:xfrm>
            <a:off x="685800" y="476280"/>
            <a:ext cx="85320" cy="85320"/>
          </a:xfrm>
          <a:prstGeom prst="ellipse">
            <a:avLst/>
          </a:prstGeom>
          <a:solidFill>
            <a:srgbClr val="0071E3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15840" rIns="90000" bIns="158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"/>
          <p:cNvSpPr/>
          <p:nvPr/>
        </p:nvSpPr>
        <p:spPr>
          <a:xfrm>
            <a:off x="857160" y="438120"/>
            <a:ext cx="3428640" cy="1900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6E6E73"/>
                </a:solidFill>
                <a:effectLst/>
                <a:uFillTx/>
                <a:latin typeface="Avenir Next"/>
                <a:ea typeface="Avenir Next"/>
              </a:rPr>
              <a:t>OFFICIAL ANCHOR</a:t>
            </a:r>
            <a:endParaRPr lang="en-US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"/>
          <p:cNvSpPr/>
          <p:nvPr/>
        </p:nvSpPr>
        <p:spPr>
          <a:xfrm>
            <a:off x="685800" y="800280"/>
            <a:ext cx="8096040" cy="8758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80" b="1" u="none" strike="noStrike">
                <a:solidFill>
                  <a:srgbClr val="111111"/>
                </a:solidFill>
                <a:effectLst/>
                <a:uFillTx/>
                <a:latin typeface="Avenir Next"/>
                <a:ea typeface="Avenir Next"/>
              </a:rPr>
              <a:t>The guideline update validates the story.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"/>
          <p:cNvSpPr/>
          <p:nvPr/>
        </p:nvSpPr>
        <p:spPr>
          <a:xfrm>
            <a:off x="685800" y="1714680"/>
            <a:ext cx="8096040" cy="4568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6E6E73"/>
                </a:solidFill>
                <a:effectLst/>
                <a:uFillTx/>
                <a:latin typeface="Avenir Next"/>
                <a:ea typeface="Avenir Next"/>
              </a:rPr>
              <a:t>The May 2026 AUA/SUO amendment explicitly expands guidance across imaging, molecular testing, risk stratification, and treatment paradigms.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"/>
          <p:cNvSpPr/>
          <p:nvPr/>
        </p:nvSpPr>
        <p:spPr>
          <a:xfrm>
            <a:off x="790560" y="2743200"/>
            <a:ext cx="2323800" cy="1771200"/>
          </a:xfrm>
          <a:prstGeom prst="rect">
            <a:avLst/>
          </a:prstGeom>
          <a:solidFill>
            <a:srgbClr val="EEF2F8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"/>
          <p:cNvSpPr/>
          <p:nvPr/>
        </p:nvSpPr>
        <p:spPr>
          <a:xfrm>
            <a:off x="743040" y="2685960"/>
            <a:ext cx="2323800" cy="1771200"/>
          </a:xfrm>
          <a:prstGeom prst="rect">
            <a:avLst/>
          </a:prstGeom>
          <a:solidFill>
            <a:srgbClr val="DCEBFF"/>
          </a:solidFill>
          <a:ln w="9525">
            <a:solidFill>
              <a:srgbClr val="D2D2D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"/>
          <p:cNvSpPr/>
          <p:nvPr/>
        </p:nvSpPr>
        <p:spPr>
          <a:xfrm>
            <a:off x="914400" y="2838600"/>
            <a:ext cx="1980720" cy="1519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0071E3"/>
                </a:solidFill>
                <a:effectLst/>
                <a:uFillTx/>
                <a:latin typeface="Avenir Next"/>
                <a:ea typeface="Avenir Next"/>
              </a:rPr>
              <a:t>IMAGING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"/>
          <p:cNvSpPr/>
          <p:nvPr/>
        </p:nvSpPr>
        <p:spPr>
          <a:xfrm>
            <a:off x="914400" y="3086280"/>
            <a:ext cx="1980720" cy="12571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111111"/>
                </a:solidFill>
                <a:effectLst/>
                <a:uFillTx/>
                <a:latin typeface="Avenir Next"/>
                <a:ea typeface="Avenir Next"/>
              </a:rPr>
              <a:t>Appropriate imaging becomes a treatment-selection tool, not just a staging formality.</a:t>
            </a:r>
            <a:endParaRPr lang="en-US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"/>
          <p:cNvSpPr/>
          <p:nvPr/>
        </p:nvSpPr>
        <p:spPr>
          <a:xfrm>
            <a:off x="3514680" y="2743200"/>
            <a:ext cx="2323800" cy="1771200"/>
          </a:xfrm>
          <a:prstGeom prst="rect">
            <a:avLst/>
          </a:prstGeom>
          <a:solidFill>
            <a:srgbClr val="EEF2F8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"/>
          <p:cNvSpPr/>
          <p:nvPr/>
        </p:nvSpPr>
        <p:spPr>
          <a:xfrm>
            <a:off x="3467160" y="2685960"/>
            <a:ext cx="2323800" cy="1771200"/>
          </a:xfrm>
          <a:prstGeom prst="rect">
            <a:avLst/>
          </a:prstGeom>
          <a:solidFill>
            <a:srgbClr val="F4E7FB"/>
          </a:solidFill>
          <a:ln w="9525">
            <a:solidFill>
              <a:srgbClr val="D2D2D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"/>
          <p:cNvSpPr/>
          <p:nvPr/>
        </p:nvSpPr>
        <p:spPr>
          <a:xfrm>
            <a:off x="3638520" y="2838600"/>
            <a:ext cx="1980720" cy="1519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AF52DE"/>
                </a:solidFill>
                <a:effectLst/>
                <a:uFillTx/>
                <a:latin typeface="Avenir Next"/>
                <a:ea typeface="Avenir Next"/>
              </a:rPr>
              <a:t>TESTING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"/>
          <p:cNvSpPr/>
          <p:nvPr/>
        </p:nvSpPr>
        <p:spPr>
          <a:xfrm>
            <a:off x="3638520" y="3086280"/>
            <a:ext cx="1980720" cy="12571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111111"/>
                </a:solidFill>
                <a:effectLst/>
                <a:uFillTx/>
                <a:latin typeface="Avenir Next"/>
                <a:ea typeface="Avenir Next"/>
              </a:rPr>
              <a:t>Germline and somatic testing move earlier and become part of routine APC counseling.</a:t>
            </a:r>
            <a:endParaRPr lang="en-US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"/>
          <p:cNvSpPr/>
          <p:nvPr/>
        </p:nvSpPr>
        <p:spPr>
          <a:xfrm>
            <a:off x="6238800" y="2743200"/>
            <a:ext cx="2323800" cy="1771200"/>
          </a:xfrm>
          <a:prstGeom prst="rect">
            <a:avLst/>
          </a:prstGeom>
          <a:solidFill>
            <a:srgbClr val="EEF2F8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"/>
          <p:cNvSpPr/>
          <p:nvPr/>
        </p:nvSpPr>
        <p:spPr>
          <a:xfrm>
            <a:off x="6191280" y="2685960"/>
            <a:ext cx="2323800" cy="1771200"/>
          </a:xfrm>
          <a:prstGeom prst="rect">
            <a:avLst/>
          </a:prstGeom>
          <a:solidFill>
            <a:srgbClr val="FFF3DD"/>
          </a:solidFill>
          <a:ln w="9525">
            <a:solidFill>
              <a:srgbClr val="D2D2D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"/>
          <p:cNvSpPr/>
          <p:nvPr/>
        </p:nvSpPr>
        <p:spPr>
          <a:xfrm>
            <a:off x="6362640" y="2838600"/>
            <a:ext cx="1980720" cy="1519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FF9F0A"/>
                </a:solidFill>
                <a:effectLst/>
                <a:uFillTx/>
                <a:latin typeface="Avenir Next"/>
                <a:ea typeface="Avenir Next"/>
              </a:rPr>
              <a:t>RISK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"/>
          <p:cNvSpPr/>
          <p:nvPr/>
        </p:nvSpPr>
        <p:spPr>
          <a:xfrm>
            <a:off x="6362640" y="3086280"/>
            <a:ext cx="1980720" cy="12571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111111"/>
                </a:solidFill>
                <a:effectLst/>
                <a:uFillTx/>
                <a:latin typeface="Avenir Next"/>
                <a:ea typeface="Avenir Next"/>
              </a:rPr>
              <a:t>Risk stratification is needed to choose intensity, de-intensity, and sequencing.</a:t>
            </a:r>
            <a:endParaRPr lang="en-US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"/>
          <p:cNvSpPr/>
          <p:nvPr/>
        </p:nvSpPr>
        <p:spPr>
          <a:xfrm>
            <a:off x="8962920" y="2743200"/>
            <a:ext cx="2323800" cy="1771200"/>
          </a:xfrm>
          <a:prstGeom prst="rect">
            <a:avLst/>
          </a:prstGeom>
          <a:solidFill>
            <a:srgbClr val="EEF2F8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"/>
          <p:cNvSpPr/>
          <p:nvPr/>
        </p:nvSpPr>
        <p:spPr>
          <a:xfrm>
            <a:off x="8915400" y="2685960"/>
            <a:ext cx="2323800" cy="1771200"/>
          </a:xfrm>
          <a:prstGeom prst="rect">
            <a:avLst/>
          </a:prstGeom>
          <a:solidFill>
            <a:srgbClr val="E6F7EC"/>
          </a:solidFill>
          <a:ln w="9525">
            <a:solidFill>
              <a:srgbClr val="D2D2D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"/>
          <p:cNvSpPr/>
          <p:nvPr/>
        </p:nvSpPr>
        <p:spPr>
          <a:xfrm>
            <a:off x="9086760" y="2838600"/>
            <a:ext cx="1980720" cy="1519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34C759"/>
                </a:solidFill>
                <a:effectLst/>
                <a:uFillTx/>
                <a:latin typeface="Avenir Next"/>
                <a:ea typeface="Avenir Next"/>
              </a:rPr>
              <a:t>TREATMENT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"/>
          <p:cNvSpPr/>
          <p:nvPr/>
        </p:nvSpPr>
        <p:spPr>
          <a:xfrm>
            <a:off x="9086760" y="3086280"/>
            <a:ext cx="1980720" cy="12571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111111"/>
                </a:solidFill>
                <a:effectLst/>
                <a:uFillTx/>
                <a:latin typeface="Avenir Next"/>
                <a:ea typeface="Avenir Next"/>
              </a:rPr>
              <a:t>Combination therapy and sequencing are now a guideline-level management problem.</a:t>
            </a:r>
            <a:endParaRPr lang="en-US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"/>
          <p:cNvSpPr/>
          <p:nvPr/>
        </p:nvSpPr>
        <p:spPr>
          <a:xfrm>
            <a:off x="942840" y="5010120"/>
            <a:ext cx="10000800" cy="742680"/>
          </a:xfrm>
          <a:prstGeom prst="rect">
            <a:avLst/>
          </a:prstGeom>
          <a:solidFill>
            <a:srgbClr val="EEF2F8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"/>
          <p:cNvSpPr/>
          <p:nvPr/>
        </p:nvSpPr>
        <p:spPr>
          <a:xfrm>
            <a:off x="895320" y="4952880"/>
            <a:ext cx="10000800" cy="742680"/>
          </a:xfrm>
          <a:prstGeom prst="rect">
            <a:avLst/>
          </a:prstGeom>
          <a:solidFill>
            <a:srgbClr val="FFFFFF"/>
          </a:solidFill>
          <a:ln w="9525">
            <a:solidFill>
              <a:srgbClr val="D2D2D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"/>
          <p:cNvSpPr/>
          <p:nvPr/>
        </p:nvSpPr>
        <p:spPr>
          <a:xfrm>
            <a:off x="1143000" y="5124600"/>
            <a:ext cx="1809360" cy="171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071E3"/>
                </a:solidFill>
                <a:effectLst/>
                <a:uFillTx/>
                <a:latin typeface="Avenir Next"/>
                <a:ea typeface="Avenir Next"/>
              </a:rPr>
              <a:t>Why this matters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"/>
          <p:cNvSpPr/>
          <p:nvPr/>
        </p:nvSpPr>
        <p:spPr>
          <a:xfrm>
            <a:off x="1143000" y="5353200"/>
            <a:ext cx="9143640" cy="2664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11111"/>
                </a:solidFill>
                <a:effectLst/>
                <a:uFillTx/>
                <a:latin typeface="Avenir Next"/>
                <a:ea typeface="Avenir Next"/>
              </a:rPr>
              <a:t>The 040IC course description mirrors the same pattern: genetic counseling, somatic testing, ADT + ARPI + chemotherapy, PSMA PET, PARP inhibitors, CRPC sequencing, and de-intensification.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"/>
          <p:cNvSpPr/>
          <p:nvPr/>
        </p:nvSpPr>
        <p:spPr>
          <a:xfrm>
            <a:off x="685800" y="6477120"/>
            <a:ext cx="8953200" cy="171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10" b="0" u="none" strike="noStrike">
                <a:solidFill>
                  <a:srgbClr val="6E6E73"/>
                </a:solidFill>
                <a:effectLst/>
                <a:uFillTx/>
                <a:latin typeface="Avenir Next"/>
                <a:ea typeface="Avenir Next"/>
              </a:rPr>
              <a:t>Sources: AUA/SUO APC Guideline Amendment announcement, May 12 2026; AUA 040IC course page.</a:t>
            </a:r>
            <a:endParaRPr lang="en-US" sz="7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"/>
          <p:cNvSpPr/>
          <p:nvPr/>
        </p:nvSpPr>
        <p:spPr>
          <a:xfrm>
            <a:off x="11049120" y="6419880"/>
            <a:ext cx="456840" cy="2282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6E6E73"/>
                </a:solidFill>
                <a:effectLst/>
                <a:uFillTx/>
                <a:latin typeface="Avenir Next"/>
                <a:ea typeface="Avenir Next"/>
              </a:rPr>
              <a:t>03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BFBFD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"/>
          <p:cNvSpPr/>
          <p:nvPr/>
        </p:nvSpPr>
        <p:spPr>
          <a:xfrm>
            <a:off x="0" y="0"/>
            <a:ext cx="12191760" cy="56880"/>
          </a:xfrm>
          <a:prstGeom prst="rect">
            <a:avLst/>
          </a:prstGeom>
          <a:solidFill>
            <a:srgbClr val="0071E3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12240" rIns="90000" bIns="122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"/>
          <p:cNvSpPr/>
          <p:nvPr/>
        </p:nvSpPr>
        <p:spPr>
          <a:xfrm>
            <a:off x="685800" y="476280"/>
            <a:ext cx="85320" cy="85320"/>
          </a:xfrm>
          <a:prstGeom prst="ellipse">
            <a:avLst/>
          </a:prstGeom>
          <a:solidFill>
            <a:srgbClr val="0071E3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15840" rIns="90000" bIns="158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"/>
          <p:cNvSpPr/>
          <p:nvPr/>
        </p:nvSpPr>
        <p:spPr>
          <a:xfrm>
            <a:off x="857160" y="438120"/>
            <a:ext cx="3428640" cy="1900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6E6E73"/>
                </a:solidFill>
                <a:effectLst/>
                <a:uFillTx/>
                <a:latin typeface="Avenir Next"/>
                <a:ea typeface="Avenir Next"/>
              </a:rPr>
              <a:t>MHSPC INTENSIFICATION</a:t>
            </a:r>
            <a:endParaRPr lang="en-US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"/>
          <p:cNvSpPr/>
          <p:nvPr/>
        </p:nvSpPr>
        <p:spPr>
          <a:xfrm>
            <a:off x="685800" y="800280"/>
            <a:ext cx="8096040" cy="8758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11111"/>
                </a:solidFill>
                <a:effectLst/>
                <a:uFillTx/>
                <a:latin typeface="Avenir Next"/>
                <a:ea typeface="Avenir Next"/>
              </a:rPr>
              <a:t>Routine care has already moved away from ADT alone.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"/>
          <p:cNvSpPr/>
          <p:nvPr/>
        </p:nvSpPr>
        <p:spPr>
          <a:xfrm>
            <a:off x="685800" y="1714680"/>
            <a:ext cx="8286480" cy="4568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6E6E73"/>
                </a:solidFill>
                <a:effectLst/>
                <a:uFillTx/>
                <a:latin typeface="Avenir Next"/>
                <a:ea typeface="Avenir Next"/>
              </a:rPr>
              <a:t>In a Swedish population-based de novo mCSPC cohort, doublet and triplet uptake rose alongside improved 3-year survival.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"/>
          <p:cNvSpPr/>
          <p:nvPr/>
        </p:nvSpPr>
        <p:spPr>
          <a:xfrm>
            <a:off x="857160" y="2685960"/>
            <a:ext cx="1809360" cy="209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1" u="none" strike="noStrike">
                <a:solidFill>
                  <a:srgbClr val="111111"/>
                </a:solidFill>
                <a:effectLst/>
                <a:uFillTx/>
                <a:latin typeface="Avenir Next"/>
                <a:ea typeface="Avenir Next"/>
              </a:rPr>
              <a:t>Upfront doublet</a:t>
            </a:r>
            <a:endParaRPr lang="en-US" sz="1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"/>
          <p:cNvSpPr/>
          <p:nvPr/>
        </p:nvSpPr>
        <p:spPr>
          <a:xfrm>
            <a:off x="2857680" y="2705040"/>
            <a:ext cx="4952520" cy="151920"/>
          </a:xfrm>
          <a:prstGeom prst="rect">
            <a:avLst/>
          </a:prstGeom>
          <a:solidFill>
            <a:srgbClr val="E9EAED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"/>
          <p:cNvSpPr/>
          <p:nvPr/>
        </p:nvSpPr>
        <p:spPr>
          <a:xfrm>
            <a:off x="2857680" y="2705040"/>
            <a:ext cx="1176120" cy="151920"/>
          </a:xfrm>
          <a:prstGeom prst="rect">
            <a:avLst/>
          </a:prstGeom>
          <a:solidFill>
            <a:srgbClr val="C8CCD3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"/>
          <p:cNvSpPr/>
          <p:nvPr/>
        </p:nvSpPr>
        <p:spPr>
          <a:xfrm>
            <a:off x="2857680" y="2952720"/>
            <a:ext cx="4952520" cy="151920"/>
          </a:xfrm>
          <a:prstGeom prst="rect">
            <a:avLst/>
          </a:prstGeom>
          <a:solidFill>
            <a:srgbClr val="E9EAED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"/>
          <p:cNvSpPr/>
          <p:nvPr/>
        </p:nvSpPr>
        <p:spPr>
          <a:xfrm>
            <a:off x="2857680" y="2952720"/>
            <a:ext cx="4086000" cy="151920"/>
          </a:xfrm>
          <a:prstGeom prst="rect">
            <a:avLst/>
          </a:prstGeom>
          <a:solidFill>
            <a:srgbClr val="0071E3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"/>
          <p:cNvSpPr/>
          <p:nvPr/>
        </p:nvSpPr>
        <p:spPr>
          <a:xfrm>
            <a:off x="4110120" y="2676600"/>
            <a:ext cx="495000" cy="171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E6E73"/>
                </a:solidFill>
                <a:effectLst/>
                <a:uFillTx/>
                <a:latin typeface="Avenir Next"/>
                <a:ea typeface="Avenir Next"/>
              </a:rPr>
              <a:t>19%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"/>
          <p:cNvSpPr/>
          <p:nvPr/>
        </p:nvSpPr>
        <p:spPr>
          <a:xfrm>
            <a:off x="7020000" y="2924280"/>
            <a:ext cx="495000" cy="171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071E3"/>
                </a:solidFill>
                <a:effectLst/>
                <a:uFillTx/>
                <a:latin typeface="Avenir Next"/>
                <a:ea typeface="Avenir Next"/>
              </a:rPr>
              <a:t>66%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"/>
          <p:cNvSpPr/>
          <p:nvPr/>
        </p:nvSpPr>
        <p:spPr>
          <a:xfrm>
            <a:off x="857160" y="3524400"/>
            <a:ext cx="1809360" cy="209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1" u="none" strike="noStrike">
                <a:solidFill>
                  <a:srgbClr val="111111"/>
                </a:solidFill>
                <a:effectLst/>
                <a:uFillTx/>
                <a:latin typeface="Avenir Next"/>
                <a:ea typeface="Avenir Next"/>
              </a:rPr>
              <a:t>Upfront triplet</a:t>
            </a:r>
            <a:endParaRPr lang="en-US" sz="1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"/>
          <p:cNvSpPr/>
          <p:nvPr/>
        </p:nvSpPr>
        <p:spPr>
          <a:xfrm>
            <a:off x="2857680" y="3543480"/>
            <a:ext cx="4952520" cy="151920"/>
          </a:xfrm>
          <a:prstGeom prst="rect">
            <a:avLst/>
          </a:prstGeom>
          <a:solidFill>
            <a:srgbClr val="E9EAED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"/>
          <p:cNvSpPr/>
          <p:nvPr/>
        </p:nvSpPr>
        <p:spPr>
          <a:xfrm>
            <a:off x="2857680" y="3543480"/>
            <a:ext cx="247320" cy="151920"/>
          </a:xfrm>
          <a:prstGeom prst="rect">
            <a:avLst/>
          </a:prstGeom>
          <a:solidFill>
            <a:srgbClr val="C8CCD3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"/>
          <p:cNvSpPr/>
          <p:nvPr/>
        </p:nvSpPr>
        <p:spPr>
          <a:xfrm>
            <a:off x="2857680" y="3790800"/>
            <a:ext cx="4952520" cy="151920"/>
          </a:xfrm>
          <a:prstGeom prst="rect">
            <a:avLst/>
          </a:prstGeom>
          <a:solidFill>
            <a:srgbClr val="E9EAED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"/>
          <p:cNvSpPr/>
          <p:nvPr/>
        </p:nvSpPr>
        <p:spPr>
          <a:xfrm>
            <a:off x="2857680" y="3790800"/>
            <a:ext cx="1052280" cy="151920"/>
          </a:xfrm>
          <a:prstGeom prst="rect">
            <a:avLst/>
          </a:prstGeom>
          <a:solidFill>
            <a:srgbClr val="FF9F0A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"/>
          <p:cNvSpPr/>
          <p:nvPr/>
        </p:nvSpPr>
        <p:spPr>
          <a:xfrm>
            <a:off x="3181320" y="3514680"/>
            <a:ext cx="495000" cy="171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E6E73"/>
                </a:solidFill>
                <a:effectLst/>
                <a:uFillTx/>
                <a:latin typeface="Avenir Next"/>
                <a:ea typeface="Avenir Next"/>
              </a:rPr>
              <a:t>4%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"/>
          <p:cNvSpPr/>
          <p:nvPr/>
        </p:nvSpPr>
        <p:spPr>
          <a:xfrm>
            <a:off x="3986280" y="3762360"/>
            <a:ext cx="495000" cy="171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9F0A"/>
                </a:solidFill>
                <a:effectLst/>
                <a:uFillTx/>
                <a:latin typeface="Avenir Next"/>
                <a:ea typeface="Avenir Next"/>
              </a:rPr>
              <a:t>17%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"/>
          <p:cNvSpPr/>
          <p:nvPr/>
        </p:nvSpPr>
        <p:spPr>
          <a:xfrm>
            <a:off x="857160" y="4362480"/>
            <a:ext cx="1809360" cy="209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1" u="none" strike="noStrike">
                <a:solidFill>
                  <a:srgbClr val="111111"/>
                </a:solidFill>
                <a:effectLst/>
                <a:uFillTx/>
                <a:latin typeface="Avenir Next"/>
                <a:ea typeface="Avenir Next"/>
              </a:rPr>
              <a:t>3-year OS, all men</a:t>
            </a:r>
            <a:endParaRPr lang="en-US" sz="1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"/>
          <p:cNvSpPr/>
          <p:nvPr/>
        </p:nvSpPr>
        <p:spPr>
          <a:xfrm>
            <a:off x="2857680" y="4381560"/>
            <a:ext cx="4952520" cy="151920"/>
          </a:xfrm>
          <a:prstGeom prst="rect">
            <a:avLst/>
          </a:prstGeom>
          <a:solidFill>
            <a:srgbClr val="E9EAED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"/>
          <p:cNvSpPr/>
          <p:nvPr/>
        </p:nvSpPr>
        <p:spPr>
          <a:xfrm>
            <a:off x="2857680" y="4381560"/>
            <a:ext cx="3157200" cy="151920"/>
          </a:xfrm>
          <a:prstGeom prst="rect">
            <a:avLst/>
          </a:prstGeom>
          <a:solidFill>
            <a:srgbClr val="C8CCD3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"/>
          <p:cNvSpPr/>
          <p:nvPr/>
        </p:nvSpPr>
        <p:spPr>
          <a:xfrm>
            <a:off x="2857680" y="4629240"/>
            <a:ext cx="4952520" cy="151920"/>
          </a:xfrm>
          <a:prstGeom prst="rect">
            <a:avLst/>
          </a:prstGeom>
          <a:solidFill>
            <a:srgbClr val="E9EAED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"/>
          <p:cNvSpPr/>
          <p:nvPr/>
        </p:nvSpPr>
        <p:spPr>
          <a:xfrm>
            <a:off x="2857680" y="4629240"/>
            <a:ext cx="3776400" cy="151920"/>
          </a:xfrm>
          <a:prstGeom prst="rect">
            <a:avLst/>
          </a:prstGeom>
          <a:solidFill>
            <a:srgbClr val="34C759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"/>
          <p:cNvSpPr/>
          <p:nvPr/>
        </p:nvSpPr>
        <p:spPr>
          <a:xfrm>
            <a:off x="6091200" y="4352760"/>
            <a:ext cx="495000" cy="171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E6E73"/>
                </a:solidFill>
                <a:effectLst/>
                <a:uFillTx/>
                <a:latin typeface="Avenir Next"/>
                <a:ea typeface="Avenir Next"/>
              </a:rPr>
              <a:t>51%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"/>
          <p:cNvSpPr/>
          <p:nvPr/>
        </p:nvSpPr>
        <p:spPr>
          <a:xfrm>
            <a:off x="6710400" y="4600440"/>
            <a:ext cx="495000" cy="171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34C759"/>
                </a:solidFill>
                <a:effectLst/>
                <a:uFillTx/>
                <a:latin typeface="Avenir Next"/>
                <a:ea typeface="Avenir Next"/>
              </a:rPr>
              <a:t>61%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"/>
          <p:cNvSpPr/>
          <p:nvPr/>
        </p:nvSpPr>
        <p:spPr>
          <a:xfrm>
            <a:off x="857160" y="5200560"/>
            <a:ext cx="1809360" cy="209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1" u="none" strike="noStrike">
                <a:solidFill>
                  <a:srgbClr val="111111"/>
                </a:solidFill>
                <a:effectLst/>
                <a:uFillTx/>
                <a:latin typeface="Avenir Next"/>
                <a:ea typeface="Avenir Next"/>
              </a:rPr>
              <a:t>3-year OS, age &lt;65</a:t>
            </a:r>
            <a:endParaRPr lang="en-US" sz="1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"/>
          <p:cNvSpPr/>
          <p:nvPr/>
        </p:nvSpPr>
        <p:spPr>
          <a:xfrm>
            <a:off x="2857680" y="5219640"/>
            <a:ext cx="4952520" cy="151920"/>
          </a:xfrm>
          <a:prstGeom prst="rect">
            <a:avLst/>
          </a:prstGeom>
          <a:solidFill>
            <a:srgbClr val="E9EAED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"/>
          <p:cNvSpPr/>
          <p:nvPr/>
        </p:nvSpPr>
        <p:spPr>
          <a:xfrm>
            <a:off x="2857680" y="5219640"/>
            <a:ext cx="4271760" cy="151920"/>
          </a:xfrm>
          <a:prstGeom prst="rect">
            <a:avLst/>
          </a:prstGeom>
          <a:solidFill>
            <a:srgbClr val="C8CCD3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"/>
          <p:cNvSpPr/>
          <p:nvPr/>
        </p:nvSpPr>
        <p:spPr>
          <a:xfrm>
            <a:off x="2857680" y="5467320"/>
            <a:ext cx="4952520" cy="151920"/>
          </a:xfrm>
          <a:prstGeom prst="rect">
            <a:avLst/>
          </a:prstGeom>
          <a:solidFill>
            <a:srgbClr val="E9EAED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"/>
          <p:cNvSpPr/>
          <p:nvPr/>
        </p:nvSpPr>
        <p:spPr>
          <a:xfrm>
            <a:off x="2857680" y="5467320"/>
            <a:ext cx="4766760" cy="151920"/>
          </a:xfrm>
          <a:prstGeom prst="rect">
            <a:avLst/>
          </a:prstGeom>
          <a:solidFill>
            <a:srgbClr val="34C759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"/>
          <p:cNvSpPr/>
          <p:nvPr/>
        </p:nvSpPr>
        <p:spPr>
          <a:xfrm>
            <a:off x="7205760" y="5191200"/>
            <a:ext cx="495000" cy="171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E6E73"/>
                </a:solidFill>
                <a:effectLst/>
                <a:uFillTx/>
                <a:latin typeface="Avenir Next"/>
                <a:ea typeface="Avenir Next"/>
              </a:rPr>
              <a:t>69%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"/>
          <p:cNvSpPr/>
          <p:nvPr/>
        </p:nvSpPr>
        <p:spPr>
          <a:xfrm>
            <a:off x="7701120" y="5438880"/>
            <a:ext cx="495000" cy="171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34C759"/>
                </a:solidFill>
                <a:effectLst/>
                <a:uFillTx/>
                <a:latin typeface="Avenir Next"/>
                <a:ea typeface="Avenir Next"/>
              </a:rPr>
              <a:t>77%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"/>
          <p:cNvSpPr/>
          <p:nvPr/>
        </p:nvSpPr>
        <p:spPr>
          <a:xfrm>
            <a:off x="8048520" y="2781360"/>
            <a:ext cx="1695240" cy="1028520"/>
          </a:xfrm>
          <a:prstGeom prst="rect">
            <a:avLst/>
          </a:prstGeom>
          <a:solidFill>
            <a:srgbClr val="EEF2F8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"/>
          <p:cNvSpPr/>
          <p:nvPr/>
        </p:nvSpPr>
        <p:spPr>
          <a:xfrm>
            <a:off x="8001000" y="2724120"/>
            <a:ext cx="1695240" cy="1028520"/>
          </a:xfrm>
          <a:prstGeom prst="rect">
            <a:avLst/>
          </a:prstGeom>
          <a:solidFill>
            <a:srgbClr val="FFFFFF"/>
          </a:solidFill>
          <a:ln w="9525">
            <a:solidFill>
              <a:srgbClr val="D2D2D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"/>
          <p:cNvSpPr/>
          <p:nvPr/>
        </p:nvSpPr>
        <p:spPr>
          <a:xfrm>
            <a:off x="8172360" y="2895480"/>
            <a:ext cx="1352160" cy="3614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20" b="1" u="none" strike="noStrike">
                <a:solidFill>
                  <a:srgbClr val="0071E3"/>
                </a:solidFill>
                <a:effectLst/>
                <a:uFillTx/>
                <a:latin typeface="Avenir Next"/>
                <a:ea typeface="Avenir Next"/>
              </a:rPr>
              <a:t>9,294</a:t>
            </a:r>
            <a:endParaRPr lang="en-US" sz="26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"/>
          <p:cNvSpPr/>
          <p:nvPr/>
        </p:nvSpPr>
        <p:spPr>
          <a:xfrm>
            <a:off x="8172360" y="3295800"/>
            <a:ext cx="1352160" cy="171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1" u="none" strike="noStrike">
                <a:solidFill>
                  <a:srgbClr val="111111"/>
                </a:solidFill>
                <a:effectLst/>
                <a:uFillTx/>
                <a:latin typeface="Avenir Next"/>
                <a:ea typeface="Avenir Next"/>
              </a:rPr>
              <a:t>de novo mCSPC men</a:t>
            </a:r>
            <a:endParaRPr lang="en-US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"/>
          <p:cNvSpPr/>
          <p:nvPr/>
        </p:nvSpPr>
        <p:spPr>
          <a:xfrm>
            <a:off x="8172360" y="3486240"/>
            <a:ext cx="1352160" cy="1900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10" b="0" u="none" strike="noStrike">
                <a:solidFill>
                  <a:srgbClr val="6E6E73"/>
                </a:solidFill>
                <a:effectLst/>
                <a:uFillTx/>
                <a:latin typeface="Avenir Next"/>
                <a:ea typeface="Avenir Next"/>
              </a:rPr>
              <a:t>NPCR Sweden, 2016-2024</a:t>
            </a:r>
            <a:endParaRPr lang="en-US" sz="7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"/>
          <p:cNvSpPr/>
          <p:nvPr/>
        </p:nvSpPr>
        <p:spPr>
          <a:xfrm>
            <a:off x="7686720" y="4152960"/>
            <a:ext cx="2990520" cy="1199880"/>
          </a:xfrm>
          <a:prstGeom prst="rect">
            <a:avLst/>
          </a:prstGeom>
          <a:solidFill>
            <a:srgbClr val="EEF2F8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"/>
          <p:cNvSpPr/>
          <p:nvPr/>
        </p:nvSpPr>
        <p:spPr>
          <a:xfrm>
            <a:off x="7639200" y="4095720"/>
            <a:ext cx="2990520" cy="1199880"/>
          </a:xfrm>
          <a:prstGeom prst="rect">
            <a:avLst/>
          </a:prstGeom>
          <a:solidFill>
            <a:srgbClr val="FFF3DD"/>
          </a:solidFill>
          <a:ln w="9525">
            <a:solidFill>
              <a:srgbClr val="D2D2D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"/>
          <p:cNvSpPr/>
          <p:nvPr/>
        </p:nvSpPr>
        <p:spPr>
          <a:xfrm>
            <a:off x="7810560" y="4248000"/>
            <a:ext cx="2647440" cy="1519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FF9F0A"/>
                </a:solidFill>
                <a:effectLst/>
                <a:uFillTx/>
                <a:latin typeface="Avenir Next"/>
                <a:ea typeface="Avenir Next"/>
              </a:rPr>
              <a:t>INTERPRETATION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"/>
          <p:cNvSpPr/>
          <p:nvPr/>
        </p:nvSpPr>
        <p:spPr>
          <a:xfrm>
            <a:off x="7810560" y="4495680"/>
            <a:ext cx="2647440" cy="6854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111111"/>
                </a:solidFill>
                <a:effectLst/>
                <a:uFillTx/>
                <a:latin typeface="Avenir Next"/>
                <a:ea typeface="Avenir Next"/>
              </a:rPr>
              <a:t>The signal is real-world adoption plus survival movement, not randomized proof that every patient needs triplet therapy.</a:t>
            </a:r>
            <a:endParaRPr lang="en-US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"/>
          <p:cNvSpPr/>
          <p:nvPr/>
        </p:nvSpPr>
        <p:spPr>
          <a:xfrm>
            <a:off x="685800" y="6477120"/>
            <a:ext cx="8953200" cy="171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10" b="0" u="none" strike="noStrike">
                <a:solidFill>
                  <a:srgbClr val="6E6E73"/>
                </a:solidFill>
                <a:effectLst/>
                <a:uFillTx/>
                <a:latin typeface="Avenir Next"/>
                <a:ea typeface="Avenir Next"/>
              </a:rPr>
              <a:t>Source: IP38-12 original poster PDF; values paraphrased from poster results.</a:t>
            </a:r>
            <a:endParaRPr lang="en-US" sz="7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"/>
          <p:cNvSpPr/>
          <p:nvPr/>
        </p:nvSpPr>
        <p:spPr>
          <a:xfrm>
            <a:off x="11049120" y="6419880"/>
            <a:ext cx="456840" cy="2282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6E6E73"/>
                </a:solidFill>
                <a:effectLst/>
                <a:uFillTx/>
                <a:latin typeface="Avenir Next"/>
                <a:ea typeface="Avenir Next"/>
              </a:rPr>
              <a:t>04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BFBFD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"/>
          <p:cNvSpPr/>
          <p:nvPr/>
        </p:nvSpPr>
        <p:spPr>
          <a:xfrm>
            <a:off x="0" y="0"/>
            <a:ext cx="12191760" cy="56880"/>
          </a:xfrm>
          <a:prstGeom prst="rect">
            <a:avLst/>
          </a:prstGeom>
          <a:solidFill>
            <a:srgbClr val="0071E3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12240" rIns="90000" bIns="122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"/>
          <p:cNvSpPr/>
          <p:nvPr/>
        </p:nvSpPr>
        <p:spPr>
          <a:xfrm>
            <a:off x="685800" y="476280"/>
            <a:ext cx="85320" cy="85320"/>
          </a:xfrm>
          <a:prstGeom prst="ellipse">
            <a:avLst/>
          </a:prstGeom>
          <a:solidFill>
            <a:srgbClr val="0071E3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15840" rIns="90000" bIns="158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"/>
          <p:cNvSpPr/>
          <p:nvPr/>
        </p:nvSpPr>
        <p:spPr>
          <a:xfrm>
            <a:off x="857160" y="438120"/>
            <a:ext cx="3428640" cy="1900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6E6E73"/>
                </a:solidFill>
                <a:effectLst/>
                <a:uFillTx/>
                <a:latin typeface="Avenir Next"/>
                <a:ea typeface="Avenir Next"/>
              </a:rPr>
              <a:t>TRIPLET SELECTION</a:t>
            </a:r>
            <a:endParaRPr lang="en-US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"/>
          <p:cNvSpPr/>
          <p:nvPr/>
        </p:nvSpPr>
        <p:spPr>
          <a:xfrm>
            <a:off x="685800" y="800280"/>
            <a:ext cx="8096040" cy="8758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150" b="1" u="none" strike="noStrike">
                <a:solidFill>
                  <a:srgbClr val="111111"/>
                </a:solidFill>
                <a:effectLst/>
                <a:uFillTx/>
                <a:latin typeface="Avenir Next"/>
                <a:ea typeface="Avenir Next"/>
              </a:rPr>
              <a:t>Triplet therapy needs a gate, not a reflex.</a:t>
            </a:r>
            <a:endParaRPr lang="en-US" sz="3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"/>
          <p:cNvSpPr/>
          <p:nvPr/>
        </p:nvSpPr>
        <p:spPr>
          <a:xfrm>
            <a:off x="685800" y="1714680"/>
            <a:ext cx="8572320" cy="4568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6E6E73"/>
                </a:solidFill>
                <a:effectLst/>
                <a:uFillTx/>
                <a:latin typeface="Avenir Next"/>
                <a:ea typeface="Avenir Next"/>
              </a:rPr>
              <a:t>Bayesian and real-world data keep ADT + ARPI as the rational default while identifying a narrower high-volume, fit-patient lane.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"/>
          <p:cNvSpPr/>
          <p:nvPr/>
        </p:nvSpPr>
        <p:spPr>
          <a:xfrm>
            <a:off x="866880" y="2629080"/>
            <a:ext cx="2171520" cy="1371240"/>
          </a:xfrm>
          <a:prstGeom prst="rect">
            <a:avLst/>
          </a:prstGeom>
          <a:solidFill>
            <a:srgbClr val="EEF2F8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"/>
          <p:cNvSpPr/>
          <p:nvPr/>
        </p:nvSpPr>
        <p:spPr>
          <a:xfrm>
            <a:off x="819000" y="2571840"/>
            <a:ext cx="2171520" cy="1371240"/>
          </a:xfrm>
          <a:prstGeom prst="rect">
            <a:avLst/>
          </a:prstGeom>
          <a:solidFill>
            <a:srgbClr val="FFFFFF"/>
          </a:solidFill>
          <a:ln w="9525">
            <a:solidFill>
              <a:srgbClr val="D2D2D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"/>
          <p:cNvSpPr/>
          <p:nvPr/>
        </p:nvSpPr>
        <p:spPr>
          <a:xfrm>
            <a:off x="1009800" y="2781360"/>
            <a:ext cx="1618920" cy="171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6E6E73"/>
                </a:solidFill>
                <a:effectLst/>
                <a:uFillTx/>
                <a:latin typeface="Avenir Next"/>
                <a:ea typeface="Avenir Next"/>
              </a:rPr>
              <a:t>OVERALL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"/>
          <p:cNvSpPr/>
          <p:nvPr/>
        </p:nvSpPr>
        <p:spPr>
          <a:xfrm>
            <a:off x="1009800" y="3029040"/>
            <a:ext cx="1618920" cy="3427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70" b="1" u="none" strike="noStrike">
                <a:solidFill>
                  <a:srgbClr val="111111"/>
                </a:solidFill>
                <a:effectLst/>
                <a:uFillTx/>
                <a:latin typeface="Avenir Next"/>
                <a:ea typeface="Avenir Next"/>
              </a:rPr>
              <a:t>HR 1.04</a:t>
            </a:r>
            <a:endParaRPr lang="en-US" sz="21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"/>
          <p:cNvSpPr/>
          <p:nvPr/>
        </p:nvSpPr>
        <p:spPr>
          <a:xfrm>
            <a:off x="1009800" y="3448080"/>
            <a:ext cx="1618920" cy="2282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6E6E73"/>
                </a:solidFill>
                <a:effectLst/>
                <a:uFillTx/>
                <a:latin typeface="Avenir Next"/>
                <a:ea typeface="Avenir Next"/>
              </a:rPr>
              <a:t>Pr benefit 36%</a:t>
            </a:r>
            <a:endParaRPr lang="en-US" sz="1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"/>
          <p:cNvSpPr/>
          <p:nvPr/>
        </p:nvSpPr>
        <p:spPr>
          <a:xfrm>
            <a:off x="3362400" y="2629080"/>
            <a:ext cx="2171520" cy="1371240"/>
          </a:xfrm>
          <a:prstGeom prst="rect">
            <a:avLst/>
          </a:prstGeom>
          <a:solidFill>
            <a:srgbClr val="EEF2F8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"/>
          <p:cNvSpPr/>
          <p:nvPr/>
        </p:nvSpPr>
        <p:spPr>
          <a:xfrm>
            <a:off x="3314880" y="2571840"/>
            <a:ext cx="2171520" cy="1371240"/>
          </a:xfrm>
          <a:prstGeom prst="rect">
            <a:avLst/>
          </a:prstGeom>
          <a:solidFill>
            <a:srgbClr val="FFF3DD"/>
          </a:solidFill>
          <a:ln w="9525">
            <a:solidFill>
              <a:srgbClr val="D2D2D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"/>
          <p:cNvSpPr/>
          <p:nvPr/>
        </p:nvSpPr>
        <p:spPr>
          <a:xfrm>
            <a:off x="3505320" y="2781360"/>
            <a:ext cx="1618920" cy="171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FF9F0A"/>
                </a:solidFill>
                <a:effectLst/>
                <a:uFillTx/>
                <a:latin typeface="Avenir Next"/>
                <a:ea typeface="Avenir Next"/>
              </a:rPr>
              <a:t>HIGH-VOLUME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"/>
          <p:cNvSpPr/>
          <p:nvPr/>
        </p:nvSpPr>
        <p:spPr>
          <a:xfrm>
            <a:off x="3505320" y="3029040"/>
            <a:ext cx="1618920" cy="3427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70" b="1" u="none" strike="noStrike">
                <a:solidFill>
                  <a:srgbClr val="111111"/>
                </a:solidFill>
                <a:effectLst/>
                <a:uFillTx/>
                <a:latin typeface="Avenir Next"/>
                <a:ea typeface="Avenir Next"/>
              </a:rPr>
              <a:t>HR 0.89</a:t>
            </a:r>
            <a:endParaRPr lang="en-US" sz="21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"/>
          <p:cNvSpPr/>
          <p:nvPr/>
        </p:nvSpPr>
        <p:spPr>
          <a:xfrm>
            <a:off x="3505320" y="3448080"/>
            <a:ext cx="1618920" cy="2282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6E6E73"/>
                </a:solidFill>
                <a:effectLst/>
                <a:uFillTx/>
                <a:latin typeface="Avenir Next"/>
                <a:ea typeface="Avenir Next"/>
              </a:rPr>
              <a:t>Pr benefit 90%</a:t>
            </a:r>
            <a:endParaRPr lang="en-US" sz="1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"/>
          <p:cNvSpPr/>
          <p:nvPr/>
        </p:nvSpPr>
        <p:spPr>
          <a:xfrm>
            <a:off x="5857920" y="2629080"/>
            <a:ext cx="2171520" cy="1371240"/>
          </a:xfrm>
          <a:prstGeom prst="rect">
            <a:avLst/>
          </a:prstGeom>
          <a:solidFill>
            <a:srgbClr val="EEF2F8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"/>
          <p:cNvSpPr/>
          <p:nvPr/>
        </p:nvSpPr>
        <p:spPr>
          <a:xfrm>
            <a:off x="5810400" y="2571840"/>
            <a:ext cx="2171520" cy="1371240"/>
          </a:xfrm>
          <a:prstGeom prst="rect">
            <a:avLst/>
          </a:prstGeom>
          <a:solidFill>
            <a:srgbClr val="FFFFFF"/>
          </a:solidFill>
          <a:ln w="9525">
            <a:solidFill>
              <a:srgbClr val="D2D2D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"/>
          <p:cNvSpPr/>
          <p:nvPr/>
        </p:nvSpPr>
        <p:spPr>
          <a:xfrm>
            <a:off x="6000840" y="2781360"/>
            <a:ext cx="1618920" cy="171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FF3B30"/>
                </a:solidFill>
                <a:effectLst/>
                <a:uFillTx/>
                <a:latin typeface="Avenir Next"/>
                <a:ea typeface="Avenir Next"/>
              </a:rPr>
              <a:t>MEANINGFUL BENEFIT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"/>
          <p:cNvSpPr/>
          <p:nvPr/>
        </p:nvSpPr>
        <p:spPr>
          <a:xfrm>
            <a:off x="6000840" y="3029040"/>
            <a:ext cx="1618920" cy="3427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70" b="1" u="none" strike="noStrike">
                <a:solidFill>
                  <a:srgbClr val="111111"/>
                </a:solidFill>
                <a:effectLst/>
                <a:uFillTx/>
                <a:latin typeface="Avenir Next"/>
                <a:ea typeface="Avenir Next"/>
              </a:rPr>
              <a:t>HR &lt;0.8</a:t>
            </a:r>
            <a:endParaRPr lang="en-US" sz="21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"/>
          <p:cNvSpPr/>
          <p:nvPr/>
        </p:nvSpPr>
        <p:spPr>
          <a:xfrm>
            <a:off x="6000840" y="3448080"/>
            <a:ext cx="1618920" cy="2282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6E6E73"/>
                </a:solidFill>
                <a:effectLst/>
                <a:uFillTx/>
                <a:latin typeface="Avenir Next"/>
                <a:ea typeface="Avenir Next"/>
              </a:rPr>
              <a:t>19% in high-volume</a:t>
            </a:r>
            <a:endParaRPr lang="en-US" sz="1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"/>
          <p:cNvSpPr/>
          <p:nvPr/>
        </p:nvSpPr>
        <p:spPr>
          <a:xfrm>
            <a:off x="8143920" y="2438280"/>
            <a:ext cx="2781000" cy="2247480"/>
          </a:xfrm>
          <a:prstGeom prst="rect">
            <a:avLst/>
          </a:prstGeom>
          <a:solidFill>
            <a:srgbClr val="EEF2F8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"/>
          <p:cNvSpPr/>
          <p:nvPr/>
        </p:nvSpPr>
        <p:spPr>
          <a:xfrm>
            <a:off x="8096400" y="2381400"/>
            <a:ext cx="2781000" cy="2247480"/>
          </a:xfrm>
          <a:prstGeom prst="rect">
            <a:avLst/>
          </a:prstGeom>
          <a:solidFill>
            <a:srgbClr val="F5F5F7"/>
          </a:solidFill>
          <a:ln w="9525">
            <a:solidFill>
              <a:srgbClr val="D2D2D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"/>
          <p:cNvSpPr/>
          <p:nvPr/>
        </p:nvSpPr>
        <p:spPr>
          <a:xfrm>
            <a:off x="8325000" y="2610000"/>
            <a:ext cx="1714320" cy="1900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9F0A"/>
                </a:solidFill>
                <a:effectLst/>
                <a:uFillTx/>
                <a:latin typeface="Avenir Next"/>
                <a:ea typeface="Avenir Next"/>
              </a:rPr>
              <a:t>Selection gate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"/>
          <p:cNvSpPr/>
          <p:nvPr/>
        </p:nvSpPr>
        <p:spPr>
          <a:xfrm>
            <a:off x="8325000" y="2895480"/>
            <a:ext cx="2266560" cy="1352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111111"/>
                </a:solidFill>
                <a:effectLst/>
                <a:uFillTx/>
                <a:latin typeface="Avenir Next"/>
                <a:ea typeface="Avenir Next"/>
              </a:rPr>
              <a:t>Consider triplet when high-volume disease, good performance status, chemo-eligible physiology, and patient goals align.</a:t>
            </a:r>
            <a:endParaRPr lang="en-US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111111"/>
                </a:solidFill>
                <a:effectLst/>
                <a:uFillTx/>
                <a:latin typeface="Avenir Next"/>
                <a:ea typeface="Avenir Next"/>
              </a:rPr>
              <a:t>Otherwise, intensify with ADT + ARPI and preserve later-line options.</a:t>
            </a:r>
            <a:endParaRPr lang="en-US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"/>
          <p:cNvSpPr/>
          <p:nvPr/>
        </p:nvSpPr>
        <p:spPr>
          <a:xfrm>
            <a:off x="895320" y="4533840"/>
            <a:ext cx="6476760" cy="5140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111111"/>
                </a:solidFill>
                <a:effectLst/>
                <a:uFillTx/>
                <a:latin typeface="Avenir Next"/>
                <a:ea typeface="Avenir Next"/>
              </a:rPr>
              <a:t>YUSHIMA registry: triplet was not clearly superior for time to CRPC; Bayesian borrowing suggested modest RMST benefit that depended on external evidence.</a:t>
            </a:r>
            <a:endParaRPr lang="en-US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"/>
          <p:cNvSpPr/>
          <p:nvPr/>
        </p:nvSpPr>
        <p:spPr>
          <a:xfrm>
            <a:off x="685800" y="6477120"/>
            <a:ext cx="8953200" cy="171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10" b="0" u="none" strike="noStrike">
                <a:solidFill>
                  <a:srgbClr val="6E6E73"/>
                </a:solidFill>
                <a:effectLst/>
                <a:uFillTx/>
                <a:latin typeface="Avenir Next"/>
                <a:ea typeface="Avenir Next"/>
              </a:rPr>
              <a:t>Sources: IP38-13 and IP73-03 original poster PDFs.</a:t>
            </a:r>
            <a:endParaRPr lang="en-US" sz="7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"/>
          <p:cNvSpPr/>
          <p:nvPr/>
        </p:nvSpPr>
        <p:spPr>
          <a:xfrm>
            <a:off x="11049120" y="6419880"/>
            <a:ext cx="456840" cy="2282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6E6E73"/>
                </a:solidFill>
                <a:effectLst/>
                <a:uFillTx/>
                <a:latin typeface="Avenir Next"/>
                <a:ea typeface="Avenir Next"/>
              </a:rPr>
              <a:t>05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BFBFD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"/>
          <p:cNvSpPr/>
          <p:nvPr/>
        </p:nvSpPr>
        <p:spPr>
          <a:xfrm>
            <a:off x="0" y="0"/>
            <a:ext cx="12191760" cy="56880"/>
          </a:xfrm>
          <a:prstGeom prst="rect">
            <a:avLst/>
          </a:prstGeom>
          <a:solidFill>
            <a:srgbClr val="0071E3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12240" rIns="90000" bIns="122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"/>
          <p:cNvSpPr/>
          <p:nvPr/>
        </p:nvSpPr>
        <p:spPr>
          <a:xfrm>
            <a:off x="685800" y="476280"/>
            <a:ext cx="85320" cy="85320"/>
          </a:xfrm>
          <a:prstGeom prst="ellipse">
            <a:avLst/>
          </a:prstGeom>
          <a:solidFill>
            <a:srgbClr val="0071E3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15840" rIns="90000" bIns="158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"/>
          <p:cNvSpPr/>
          <p:nvPr/>
        </p:nvSpPr>
        <p:spPr>
          <a:xfrm>
            <a:off x="857160" y="438120"/>
            <a:ext cx="3428640" cy="1900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6E6E73"/>
                </a:solidFill>
                <a:effectLst/>
                <a:uFillTx/>
                <a:latin typeface="Avenir Next"/>
                <a:ea typeface="Avenir Next"/>
              </a:rPr>
              <a:t>IMPLEMENTATION GAP</a:t>
            </a:r>
            <a:endParaRPr lang="en-US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"/>
          <p:cNvSpPr/>
          <p:nvPr/>
        </p:nvSpPr>
        <p:spPr>
          <a:xfrm>
            <a:off x="685800" y="800280"/>
            <a:ext cx="8096040" cy="8758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11111"/>
                </a:solidFill>
                <a:effectLst/>
                <a:uFillTx/>
                <a:latin typeface="Avenir Next"/>
                <a:ea typeface="Avenir Next"/>
              </a:rPr>
              <a:t>The first ADT decision still varies by pathway.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"/>
          <p:cNvSpPr/>
          <p:nvPr/>
        </p:nvSpPr>
        <p:spPr>
          <a:xfrm>
            <a:off x="685800" y="1714680"/>
            <a:ext cx="8381520" cy="4568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6E6E73"/>
                </a:solidFill>
                <a:effectLst/>
                <a:uFillTx/>
                <a:latin typeface="Avenir Next"/>
                <a:ea typeface="Avenir Next"/>
              </a:rPr>
              <a:t>Ontario data suggest intensification improved over time, but real-world delivery still depends on patient barriers and care-system design.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"/>
          <p:cNvSpPr/>
          <p:nvPr/>
        </p:nvSpPr>
        <p:spPr>
          <a:xfrm>
            <a:off x="961920" y="2533680"/>
            <a:ext cx="1695240" cy="1028520"/>
          </a:xfrm>
          <a:prstGeom prst="rect">
            <a:avLst/>
          </a:prstGeom>
          <a:solidFill>
            <a:srgbClr val="EEF2F8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"/>
          <p:cNvSpPr/>
          <p:nvPr/>
        </p:nvSpPr>
        <p:spPr>
          <a:xfrm>
            <a:off x="914400" y="2476440"/>
            <a:ext cx="1695240" cy="1028520"/>
          </a:xfrm>
          <a:prstGeom prst="rect">
            <a:avLst/>
          </a:prstGeom>
          <a:solidFill>
            <a:srgbClr val="FFFFFF"/>
          </a:solidFill>
          <a:ln w="9525">
            <a:solidFill>
              <a:srgbClr val="D2D2D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"/>
          <p:cNvSpPr/>
          <p:nvPr/>
        </p:nvSpPr>
        <p:spPr>
          <a:xfrm>
            <a:off x="1085760" y="2647800"/>
            <a:ext cx="1352160" cy="3614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20" b="1" u="none" strike="noStrike">
                <a:solidFill>
                  <a:srgbClr val="0071E3"/>
                </a:solidFill>
                <a:effectLst/>
                <a:uFillTx/>
                <a:latin typeface="Avenir Next"/>
                <a:ea typeface="Avenir Next"/>
              </a:rPr>
              <a:t>3,871</a:t>
            </a:r>
            <a:endParaRPr lang="en-US" sz="26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"/>
          <p:cNvSpPr/>
          <p:nvPr/>
        </p:nvSpPr>
        <p:spPr>
          <a:xfrm>
            <a:off x="1085760" y="3048120"/>
            <a:ext cx="1352160" cy="171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1" u="none" strike="noStrike">
                <a:solidFill>
                  <a:srgbClr val="111111"/>
                </a:solidFill>
                <a:effectLst/>
                <a:uFillTx/>
                <a:latin typeface="Avenir Next"/>
                <a:ea typeface="Avenir Next"/>
              </a:rPr>
              <a:t>patients</a:t>
            </a:r>
            <a:endParaRPr lang="en-US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"/>
          <p:cNvSpPr/>
          <p:nvPr/>
        </p:nvSpPr>
        <p:spPr>
          <a:xfrm>
            <a:off x="1085760" y="3238560"/>
            <a:ext cx="1352160" cy="1900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10" b="0" u="none" strike="noStrike">
                <a:solidFill>
                  <a:srgbClr val="6E6E73"/>
                </a:solidFill>
                <a:effectLst/>
                <a:uFillTx/>
                <a:latin typeface="Avenir Next"/>
                <a:ea typeface="Avenir Next"/>
              </a:rPr>
              <a:t>de novo mHSPC, age &gt;=66</a:t>
            </a:r>
            <a:endParaRPr lang="en-US" sz="7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"/>
          <p:cNvSpPr/>
          <p:nvPr/>
        </p:nvSpPr>
        <p:spPr>
          <a:xfrm>
            <a:off x="2867040" y="2533680"/>
            <a:ext cx="1695240" cy="1028520"/>
          </a:xfrm>
          <a:prstGeom prst="rect">
            <a:avLst/>
          </a:prstGeom>
          <a:solidFill>
            <a:srgbClr val="EEF2F8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"/>
          <p:cNvSpPr/>
          <p:nvPr/>
        </p:nvSpPr>
        <p:spPr>
          <a:xfrm>
            <a:off x="2819520" y="2476440"/>
            <a:ext cx="1695240" cy="1028520"/>
          </a:xfrm>
          <a:prstGeom prst="rect">
            <a:avLst/>
          </a:prstGeom>
          <a:solidFill>
            <a:srgbClr val="FFFFFF"/>
          </a:solidFill>
          <a:ln w="9525">
            <a:solidFill>
              <a:srgbClr val="D2D2D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"/>
          <p:cNvSpPr/>
          <p:nvPr/>
        </p:nvSpPr>
        <p:spPr>
          <a:xfrm>
            <a:off x="2990880" y="2647800"/>
            <a:ext cx="1352160" cy="3614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20" b="1" u="none" strike="noStrike">
                <a:solidFill>
                  <a:srgbClr val="AF52DE"/>
                </a:solidFill>
                <a:effectLst/>
                <a:uFillTx/>
                <a:latin typeface="Avenir Next"/>
                <a:ea typeface="Avenir Next"/>
              </a:rPr>
              <a:t>332</a:t>
            </a:r>
            <a:endParaRPr lang="en-US" sz="26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"/>
          <p:cNvSpPr/>
          <p:nvPr/>
        </p:nvSpPr>
        <p:spPr>
          <a:xfrm>
            <a:off x="2990880" y="3048120"/>
            <a:ext cx="1352160" cy="171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1" u="none" strike="noStrike">
                <a:solidFill>
                  <a:srgbClr val="111111"/>
                </a:solidFill>
                <a:effectLst/>
                <a:uFillTx/>
                <a:latin typeface="Avenir Next"/>
                <a:ea typeface="Avenir Next"/>
              </a:rPr>
              <a:t>urologists</a:t>
            </a:r>
            <a:endParaRPr lang="en-US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"/>
          <p:cNvSpPr/>
          <p:nvPr/>
        </p:nvSpPr>
        <p:spPr>
          <a:xfrm>
            <a:off x="2990880" y="3238560"/>
            <a:ext cx="1352160" cy="1900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10" b="0" u="none" strike="noStrike">
                <a:solidFill>
                  <a:srgbClr val="6E6E73"/>
                </a:solidFill>
                <a:effectLst/>
                <a:uFillTx/>
                <a:latin typeface="Avenir Next"/>
                <a:ea typeface="Avenir Next"/>
              </a:rPr>
              <a:t>ADT initiated by urologist</a:t>
            </a:r>
            <a:endParaRPr lang="en-US" sz="7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"/>
          <p:cNvSpPr/>
          <p:nvPr/>
        </p:nvSpPr>
        <p:spPr>
          <a:xfrm>
            <a:off x="4772160" y="2533680"/>
            <a:ext cx="1695240" cy="1028520"/>
          </a:xfrm>
          <a:prstGeom prst="rect">
            <a:avLst/>
          </a:prstGeom>
          <a:solidFill>
            <a:srgbClr val="EEF2F8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"/>
          <p:cNvSpPr/>
          <p:nvPr/>
        </p:nvSpPr>
        <p:spPr>
          <a:xfrm>
            <a:off x="4724280" y="2476440"/>
            <a:ext cx="1695240" cy="1028520"/>
          </a:xfrm>
          <a:prstGeom prst="rect">
            <a:avLst/>
          </a:prstGeom>
          <a:solidFill>
            <a:srgbClr val="FFFFFF"/>
          </a:solidFill>
          <a:ln w="9525">
            <a:solidFill>
              <a:srgbClr val="D2D2D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"/>
          <p:cNvSpPr/>
          <p:nvPr/>
        </p:nvSpPr>
        <p:spPr>
          <a:xfrm>
            <a:off x="4896000" y="2647800"/>
            <a:ext cx="1352160" cy="3614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20" b="1" u="none" strike="noStrike">
                <a:solidFill>
                  <a:srgbClr val="FF9F0A"/>
                </a:solidFill>
                <a:effectLst/>
                <a:uFillTx/>
                <a:latin typeface="Avenir Next"/>
                <a:ea typeface="Avenir Next"/>
              </a:rPr>
              <a:t>26.5%</a:t>
            </a:r>
            <a:endParaRPr lang="en-US" sz="26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"/>
          <p:cNvSpPr/>
          <p:nvPr/>
        </p:nvSpPr>
        <p:spPr>
          <a:xfrm>
            <a:off x="4896000" y="3048120"/>
            <a:ext cx="1352160" cy="171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1" u="none" strike="noStrike">
                <a:solidFill>
                  <a:srgbClr val="111111"/>
                </a:solidFill>
                <a:effectLst/>
                <a:uFillTx/>
                <a:latin typeface="Avenir Next"/>
                <a:ea typeface="Avenir Next"/>
              </a:rPr>
              <a:t>intensified</a:t>
            </a:r>
            <a:endParaRPr lang="en-US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" name=""/>
          <p:cNvSpPr/>
          <p:nvPr/>
        </p:nvSpPr>
        <p:spPr>
          <a:xfrm>
            <a:off x="4896000" y="3238560"/>
            <a:ext cx="1352160" cy="1900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10" b="0" u="none" strike="noStrike">
                <a:solidFill>
                  <a:srgbClr val="6E6E73"/>
                </a:solidFill>
                <a:effectLst/>
                <a:uFillTx/>
                <a:latin typeface="Avenir Next"/>
                <a:ea typeface="Avenir Next"/>
              </a:rPr>
              <a:t>ARPI or docetaxel within 6 mo</a:t>
            </a:r>
            <a:endParaRPr lang="en-US" sz="7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"/>
          <p:cNvSpPr/>
          <p:nvPr/>
        </p:nvSpPr>
        <p:spPr>
          <a:xfrm>
            <a:off x="7286760" y="2400480"/>
            <a:ext cx="3142800" cy="1828440"/>
          </a:xfrm>
          <a:prstGeom prst="rect">
            <a:avLst/>
          </a:prstGeom>
          <a:solidFill>
            <a:srgbClr val="EEF2F8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"/>
          <p:cNvSpPr/>
          <p:nvPr/>
        </p:nvSpPr>
        <p:spPr>
          <a:xfrm>
            <a:off x="7238880" y="2343240"/>
            <a:ext cx="3142800" cy="1828440"/>
          </a:xfrm>
          <a:prstGeom prst="rect">
            <a:avLst/>
          </a:prstGeom>
          <a:solidFill>
            <a:srgbClr val="FFFFFF"/>
          </a:solidFill>
          <a:ln w="9525">
            <a:solidFill>
              <a:srgbClr val="D2D2D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"/>
          <p:cNvSpPr/>
          <p:nvPr/>
        </p:nvSpPr>
        <p:spPr>
          <a:xfrm>
            <a:off x="7486560" y="2610000"/>
            <a:ext cx="2095200" cy="1900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111111"/>
                </a:solidFill>
                <a:effectLst/>
                <a:uFillTx/>
                <a:latin typeface="Avenir Next"/>
                <a:ea typeface="Avenir Next"/>
              </a:rPr>
              <a:t>Mean uptake per urologist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"/>
          <p:cNvSpPr/>
          <p:nvPr/>
        </p:nvSpPr>
        <p:spPr>
          <a:xfrm>
            <a:off x="7524720" y="3067200"/>
            <a:ext cx="2190240" cy="190080"/>
          </a:xfrm>
          <a:prstGeom prst="rect">
            <a:avLst/>
          </a:prstGeom>
          <a:solidFill>
            <a:srgbClr val="E9EAED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"/>
          <p:cNvSpPr/>
          <p:nvPr/>
        </p:nvSpPr>
        <p:spPr>
          <a:xfrm>
            <a:off x="7524720" y="3067200"/>
            <a:ext cx="218880" cy="190080"/>
          </a:xfrm>
          <a:prstGeom prst="rect">
            <a:avLst/>
          </a:prstGeom>
          <a:solidFill>
            <a:srgbClr val="6E6E73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"/>
          <p:cNvSpPr/>
          <p:nvPr/>
        </p:nvSpPr>
        <p:spPr>
          <a:xfrm>
            <a:off x="9791640" y="3038400"/>
            <a:ext cx="380520" cy="209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E6E73"/>
                </a:solidFill>
                <a:effectLst/>
                <a:uFillTx/>
                <a:latin typeface="Avenir Next"/>
                <a:ea typeface="Avenir Next"/>
              </a:rPr>
              <a:t>6%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"/>
          <p:cNvSpPr/>
          <p:nvPr/>
        </p:nvSpPr>
        <p:spPr>
          <a:xfrm>
            <a:off x="7524720" y="3543480"/>
            <a:ext cx="2190240" cy="190080"/>
          </a:xfrm>
          <a:prstGeom prst="rect">
            <a:avLst/>
          </a:prstGeom>
          <a:solidFill>
            <a:srgbClr val="E9EAED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"/>
          <p:cNvSpPr/>
          <p:nvPr/>
        </p:nvSpPr>
        <p:spPr>
          <a:xfrm>
            <a:off x="7524720" y="3543480"/>
            <a:ext cx="2152440" cy="190080"/>
          </a:xfrm>
          <a:prstGeom prst="rect">
            <a:avLst/>
          </a:prstGeom>
          <a:solidFill>
            <a:srgbClr val="0071E3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"/>
          <p:cNvSpPr/>
          <p:nvPr/>
        </p:nvSpPr>
        <p:spPr>
          <a:xfrm>
            <a:off x="9791640" y="3514680"/>
            <a:ext cx="380520" cy="209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071E3"/>
                </a:solidFill>
                <a:effectLst/>
                <a:uFillTx/>
                <a:latin typeface="Avenir Next"/>
                <a:ea typeface="Avenir Next"/>
              </a:rPr>
              <a:t>59%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" name=""/>
          <p:cNvSpPr/>
          <p:nvPr/>
        </p:nvSpPr>
        <p:spPr>
          <a:xfrm>
            <a:off x="1019160" y="4610160"/>
            <a:ext cx="9619920" cy="875880"/>
          </a:xfrm>
          <a:prstGeom prst="rect">
            <a:avLst/>
          </a:prstGeom>
          <a:solidFill>
            <a:srgbClr val="EEF2F8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"/>
          <p:cNvSpPr/>
          <p:nvPr/>
        </p:nvSpPr>
        <p:spPr>
          <a:xfrm>
            <a:off x="971640" y="4552920"/>
            <a:ext cx="9619920" cy="875880"/>
          </a:xfrm>
          <a:prstGeom prst="rect">
            <a:avLst/>
          </a:prstGeom>
          <a:solidFill>
            <a:srgbClr val="E6F7EC"/>
          </a:solidFill>
          <a:ln w="9525">
            <a:solidFill>
              <a:srgbClr val="D2D2D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"/>
          <p:cNvSpPr/>
          <p:nvPr/>
        </p:nvSpPr>
        <p:spPr>
          <a:xfrm>
            <a:off x="1143000" y="4705200"/>
            <a:ext cx="9276840" cy="1519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34C759"/>
                </a:solidFill>
                <a:effectLst/>
                <a:uFillTx/>
                <a:latin typeface="Avenir Next"/>
                <a:ea typeface="Avenir Next"/>
              </a:rPr>
              <a:t>NARRATIVE POINT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"/>
          <p:cNvSpPr/>
          <p:nvPr/>
        </p:nvSpPr>
        <p:spPr>
          <a:xfrm>
            <a:off x="1143000" y="4952880"/>
            <a:ext cx="9276840" cy="3614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111111"/>
                </a:solidFill>
                <a:effectLst/>
                <a:uFillTx/>
                <a:latin typeface="Avenir Next"/>
                <a:ea typeface="Avenir Next"/>
              </a:rPr>
              <a:t>The gap is no longer knowledge alone. It is referral timing, frailty/comorbidity assessment, drug access, documentation, and whether the urology clinic has a default intensification pathway.</a:t>
            </a:r>
            <a:endParaRPr lang="en-US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" name=""/>
          <p:cNvSpPr/>
          <p:nvPr/>
        </p:nvSpPr>
        <p:spPr>
          <a:xfrm>
            <a:off x="685800" y="6477120"/>
            <a:ext cx="8953200" cy="171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10" b="0" u="none" strike="noStrike">
                <a:solidFill>
                  <a:srgbClr val="6E6E73"/>
                </a:solidFill>
                <a:effectLst/>
                <a:uFillTx/>
                <a:latin typeface="Avenir Next"/>
                <a:ea typeface="Avenir Next"/>
              </a:rPr>
              <a:t>Source: IP73-14 original poster PDF.</a:t>
            </a:r>
            <a:endParaRPr lang="en-US" sz="7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" name=""/>
          <p:cNvSpPr/>
          <p:nvPr/>
        </p:nvSpPr>
        <p:spPr>
          <a:xfrm>
            <a:off x="11049120" y="6419880"/>
            <a:ext cx="456840" cy="2282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6E6E73"/>
                </a:solidFill>
                <a:effectLst/>
                <a:uFillTx/>
                <a:latin typeface="Avenir Next"/>
                <a:ea typeface="Avenir Next"/>
              </a:rPr>
              <a:t>06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BFBFD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"/>
          <p:cNvSpPr/>
          <p:nvPr/>
        </p:nvSpPr>
        <p:spPr>
          <a:xfrm>
            <a:off x="0" y="0"/>
            <a:ext cx="12191760" cy="56880"/>
          </a:xfrm>
          <a:prstGeom prst="rect">
            <a:avLst/>
          </a:prstGeom>
          <a:solidFill>
            <a:srgbClr val="0071E3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12240" rIns="90000" bIns="122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"/>
          <p:cNvSpPr/>
          <p:nvPr/>
        </p:nvSpPr>
        <p:spPr>
          <a:xfrm>
            <a:off x="685800" y="476280"/>
            <a:ext cx="85320" cy="85320"/>
          </a:xfrm>
          <a:prstGeom prst="ellipse">
            <a:avLst/>
          </a:prstGeom>
          <a:solidFill>
            <a:srgbClr val="0071E3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15840" rIns="90000" bIns="158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" name=""/>
          <p:cNvSpPr/>
          <p:nvPr/>
        </p:nvSpPr>
        <p:spPr>
          <a:xfrm>
            <a:off x="857160" y="438120"/>
            <a:ext cx="3428640" cy="1900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6E6E73"/>
                </a:solidFill>
                <a:effectLst/>
                <a:uFillTx/>
                <a:latin typeface="Avenir Next"/>
                <a:ea typeface="Avenir Next"/>
              </a:rPr>
              <a:t>PSMA / RLT MONITORING</a:t>
            </a:r>
            <a:endParaRPr lang="en-US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" name=""/>
          <p:cNvSpPr/>
          <p:nvPr/>
        </p:nvSpPr>
        <p:spPr>
          <a:xfrm>
            <a:off x="685800" y="800280"/>
            <a:ext cx="8096040" cy="8758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50" b="1" u="none" strike="noStrike">
                <a:solidFill>
                  <a:srgbClr val="111111"/>
                </a:solidFill>
                <a:effectLst/>
                <a:uFillTx/>
                <a:latin typeface="Avenir Next"/>
                <a:ea typeface="Avenir Next"/>
              </a:rPr>
              <a:t>After target pressure, PSMA is no longer the whole imaging story.</a:t>
            </a:r>
            <a:endParaRPr lang="en-US" sz="2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" name=""/>
          <p:cNvSpPr/>
          <p:nvPr/>
        </p:nvSpPr>
        <p:spPr>
          <a:xfrm>
            <a:off x="685800" y="1714680"/>
            <a:ext cx="8572320" cy="4568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6E6E73"/>
                </a:solidFill>
                <a:effectLst/>
                <a:uFillTx/>
                <a:latin typeface="Avenir Next"/>
                <a:ea typeface="Avenir Next"/>
              </a:rPr>
              <a:t>A Mayo registry analysis suggests 11C-Choline PET/CT may detect post-Lu-177 PSMA progression more often and at lower PSA than PSMA PET/CT.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" name=""/>
          <p:cNvSpPr/>
          <p:nvPr/>
        </p:nvSpPr>
        <p:spPr>
          <a:xfrm>
            <a:off x="1200240" y="3314880"/>
            <a:ext cx="514080" cy="514080"/>
          </a:xfrm>
          <a:prstGeom prst="ellipse">
            <a:avLst/>
          </a:prstGeom>
          <a:solidFill>
            <a:srgbClr val="DCEBFF"/>
          </a:solidFill>
          <a:ln w="19050">
            <a:solidFill>
              <a:srgbClr val="0071E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"/>
          <p:cNvSpPr/>
          <p:nvPr/>
        </p:nvSpPr>
        <p:spPr>
          <a:xfrm>
            <a:off x="1371600" y="3429000"/>
            <a:ext cx="209160" cy="2473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1" u="none" strike="noStrike">
                <a:solidFill>
                  <a:srgbClr val="0071E3"/>
                </a:solidFill>
                <a:effectLst/>
                <a:uFillTx/>
                <a:latin typeface="Avenir Next"/>
                <a:ea typeface="Avenir Next"/>
              </a:rPr>
              <a:t>1</a:t>
            </a:r>
            <a:endParaRPr lang="en-US" sz="1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" name=""/>
          <p:cNvSpPr/>
          <p:nvPr/>
        </p:nvSpPr>
        <p:spPr>
          <a:xfrm>
            <a:off x="1828800" y="3562200"/>
            <a:ext cx="1599840" cy="18720"/>
          </a:xfrm>
          <a:prstGeom prst="rect">
            <a:avLst/>
          </a:prstGeom>
          <a:solidFill>
            <a:srgbClr val="D2D2D7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25920" rIns="90000" bIns="-259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"/>
          <p:cNvSpPr/>
          <p:nvPr/>
        </p:nvSpPr>
        <p:spPr>
          <a:xfrm>
            <a:off x="876240" y="4019400"/>
            <a:ext cx="1238040" cy="1900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111111"/>
                </a:solidFill>
                <a:effectLst/>
                <a:uFillTx/>
                <a:latin typeface="Avenir Next"/>
                <a:ea typeface="Avenir Next"/>
              </a:rPr>
              <a:t>Baseline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" name=""/>
          <p:cNvSpPr/>
          <p:nvPr/>
        </p:nvSpPr>
        <p:spPr>
          <a:xfrm>
            <a:off x="666720" y="4248000"/>
            <a:ext cx="1657080" cy="3996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6E6E73"/>
                </a:solidFill>
                <a:effectLst/>
                <a:uFillTx/>
                <a:latin typeface="Avenir Next"/>
                <a:ea typeface="Avenir Next"/>
              </a:rPr>
              <a:t>PSMA PET before Lu-177</a:t>
            </a:r>
            <a:endParaRPr lang="en-US" sz="93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" name=""/>
          <p:cNvSpPr/>
          <p:nvPr/>
        </p:nvSpPr>
        <p:spPr>
          <a:xfrm>
            <a:off x="3581280" y="3314880"/>
            <a:ext cx="514080" cy="514080"/>
          </a:xfrm>
          <a:prstGeom prst="ellipse">
            <a:avLst/>
          </a:prstGeom>
          <a:solidFill>
            <a:srgbClr val="F4E7FB"/>
          </a:solidFill>
          <a:ln w="19050">
            <a:solidFill>
              <a:srgbClr val="AF52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"/>
          <p:cNvSpPr/>
          <p:nvPr/>
        </p:nvSpPr>
        <p:spPr>
          <a:xfrm>
            <a:off x="3753000" y="3429000"/>
            <a:ext cx="209160" cy="2473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1" u="none" strike="noStrike">
                <a:solidFill>
                  <a:srgbClr val="AF52DE"/>
                </a:solidFill>
                <a:effectLst/>
                <a:uFillTx/>
                <a:latin typeface="Avenir Next"/>
                <a:ea typeface="Avenir Next"/>
              </a:rPr>
              <a:t>2</a:t>
            </a:r>
            <a:endParaRPr lang="en-US" sz="1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" name=""/>
          <p:cNvSpPr/>
          <p:nvPr/>
        </p:nvSpPr>
        <p:spPr>
          <a:xfrm>
            <a:off x="4210200" y="3562200"/>
            <a:ext cx="1599840" cy="18720"/>
          </a:xfrm>
          <a:prstGeom prst="rect">
            <a:avLst/>
          </a:prstGeom>
          <a:solidFill>
            <a:srgbClr val="D2D2D7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25920" rIns="90000" bIns="-259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"/>
          <p:cNvSpPr/>
          <p:nvPr/>
        </p:nvSpPr>
        <p:spPr>
          <a:xfrm>
            <a:off x="3257640" y="4019400"/>
            <a:ext cx="1238040" cy="1900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111111"/>
                </a:solidFill>
                <a:effectLst/>
                <a:uFillTx/>
                <a:latin typeface="Avenir Next"/>
                <a:ea typeface="Avenir Next"/>
              </a:rPr>
              <a:t>Therapy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" name=""/>
          <p:cNvSpPr/>
          <p:nvPr/>
        </p:nvSpPr>
        <p:spPr>
          <a:xfrm>
            <a:off x="3048120" y="4248000"/>
            <a:ext cx="1657080" cy="3996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6E6E73"/>
                </a:solidFill>
                <a:effectLst/>
                <a:uFillTx/>
                <a:latin typeface="Avenir Next"/>
                <a:ea typeface="Avenir Next"/>
              </a:rPr>
              <a:t>Lu-177 PSMA exposure</a:t>
            </a:r>
            <a:endParaRPr lang="en-US" sz="93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" name=""/>
          <p:cNvSpPr/>
          <p:nvPr/>
        </p:nvSpPr>
        <p:spPr>
          <a:xfrm>
            <a:off x="5962680" y="3314880"/>
            <a:ext cx="514080" cy="514080"/>
          </a:xfrm>
          <a:prstGeom prst="ellipse">
            <a:avLst/>
          </a:prstGeom>
          <a:solidFill>
            <a:srgbClr val="FFF3DD"/>
          </a:solidFill>
          <a:ln w="19050">
            <a:solidFill>
              <a:srgbClr val="FF9F0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"/>
          <p:cNvSpPr/>
          <p:nvPr/>
        </p:nvSpPr>
        <p:spPr>
          <a:xfrm>
            <a:off x="6134040" y="3429000"/>
            <a:ext cx="209160" cy="2473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1" u="none" strike="noStrike">
                <a:solidFill>
                  <a:srgbClr val="FF9F0A"/>
                </a:solidFill>
                <a:effectLst/>
                <a:uFillTx/>
                <a:latin typeface="Avenir Next"/>
                <a:ea typeface="Avenir Next"/>
              </a:rPr>
              <a:t>3</a:t>
            </a:r>
            <a:endParaRPr lang="en-US" sz="1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" name=""/>
          <p:cNvSpPr/>
          <p:nvPr/>
        </p:nvSpPr>
        <p:spPr>
          <a:xfrm>
            <a:off x="6591240" y="3562200"/>
            <a:ext cx="1599840" cy="18720"/>
          </a:xfrm>
          <a:prstGeom prst="rect">
            <a:avLst/>
          </a:prstGeom>
          <a:solidFill>
            <a:srgbClr val="D2D2D7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25920" rIns="90000" bIns="-259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"/>
          <p:cNvSpPr/>
          <p:nvPr/>
        </p:nvSpPr>
        <p:spPr>
          <a:xfrm>
            <a:off x="5638680" y="4019400"/>
            <a:ext cx="1238040" cy="1900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111111"/>
                </a:solidFill>
                <a:effectLst/>
                <a:uFillTx/>
                <a:latin typeface="Avenir Next"/>
                <a:ea typeface="Avenir Next"/>
              </a:rPr>
              <a:t>Progression call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" name=""/>
          <p:cNvSpPr/>
          <p:nvPr/>
        </p:nvSpPr>
        <p:spPr>
          <a:xfrm>
            <a:off x="5429160" y="4248000"/>
            <a:ext cx="1657080" cy="3996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6E6E73"/>
                </a:solidFill>
                <a:effectLst/>
                <a:uFillTx/>
                <a:latin typeface="Avenir Next"/>
                <a:ea typeface="Avenir Next"/>
              </a:rPr>
              <a:t>PSMA PET vs 11C-Choline</a:t>
            </a:r>
            <a:endParaRPr lang="en-US" sz="93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" name=""/>
          <p:cNvSpPr/>
          <p:nvPr/>
        </p:nvSpPr>
        <p:spPr>
          <a:xfrm>
            <a:off x="8344080" y="3314880"/>
            <a:ext cx="514080" cy="514080"/>
          </a:xfrm>
          <a:prstGeom prst="ellipse">
            <a:avLst/>
          </a:prstGeom>
          <a:solidFill>
            <a:srgbClr val="E6F7EC"/>
          </a:solidFill>
          <a:ln w="19050">
            <a:solidFill>
              <a:srgbClr val="34C7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"/>
          <p:cNvSpPr/>
          <p:nvPr/>
        </p:nvSpPr>
        <p:spPr>
          <a:xfrm>
            <a:off x="8515440" y="3429000"/>
            <a:ext cx="209160" cy="2473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1" u="none" strike="noStrike">
                <a:solidFill>
                  <a:srgbClr val="34C759"/>
                </a:solidFill>
                <a:effectLst/>
                <a:uFillTx/>
                <a:latin typeface="Avenir Next"/>
                <a:ea typeface="Avenir Next"/>
              </a:rPr>
              <a:t>4</a:t>
            </a:r>
            <a:endParaRPr lang="en-US" sz="1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" name=""/>
          <p:cNvSpPr/>
          <p:nvPr/>
        </p:nvSpPr>
        <p:spPr>
          <a:xfrm>
            <a:off x="8020080" y="4019400"/>
            <a:ext cx="1238040" cy="1900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111111"/>
                </a:solidFill>
                <a:effectLst/>
                <a:uFillTx/>
                <a:latin typeface="Avenir Next"/>
                <a:ea typeface="Avenir Next"/>
              </a:rPr>
              <a:t>Decision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" name=""/>
          <p:cNvSpPr/>
          <p:nvPr/>
        </p:nvSpPr>
        <p:spPr>
          <a:xfrm>
            <a:off x="7810560" y="4248000"/>
            <a:ext cx="1657080" cy="3996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6E6E73"/>
                </a:solidFill>
                <a:effectLst/>
                <a:uFillTx/>
                <a:latin typeface="Avenir Next"/>
                <a:ea typeface="Avenir Next"/>
              </a:rPr>
              <a:t>Biopsy / imaging / treatment response</a:t>
            </a:r>
            <a:endParaRPr lang="en-US" sz="93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" name=""/>
          <p:cNvSpPr/>
          <p:nvPr/>
        </p:nvSpPr>
        <p:spPr>
          <a:xfrm>
            <a:off x="1152360" y="2133720"/>
            <a:ext cx="1695240" cy="1028520"/>
          </a:xfrm>
          <a:prstGeom prst="rect">
            <a:avLst/>
          </a:prstGeom>
          <a:solidFill>
            <a:srgbClr val="EEF2F8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"/>
          <p:cNvSpPr/>
          <p:nvPr/>
        </p:nvSpPr>
        <p:spPr>
          <a:xfrm>
            <a:off x="1104840" y="2076480"/>
            <a:ext cx="1695240" cy="1028520"/>
          </a:xfrm>
          <a:prstGeom prst="rect">
            <a:avLst/>
          </a:prstGeom>
          <a:solidFill>
            <a:srgbClr val="FFFFFF"/>
          </a:solidFill>
          <a:ln w="9525">
            <a:solidFill>
              <a:srgbClr val="D2D2D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"/>
          <p:cNvSpPr/>
          <p:nvPr/>
        </p:nvSpPr>
        <p:spPr>
          <a:xfrm>
            <a:off x="1276200" y="2247840"/>
            <a:ext cx="1352160" cy="3614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20" b="1" u="none" strike="noStrike">
                <a:solidFill>
                  <a:srgbClr val="0071E3"/>
                </a:solidFill>
                <a:effectLst/>
                <a:uFillTx/>
                <a:latin typeface="Avenir Next"/>
                <a:ea typeface="Avenir Next"/>
              </a:rPr>
              <a:t>512</a:t>
            </a:r>
            <a:endParaRPr lang="en-US" sz="26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" name=""/>
          <p:cNvSpPr/>
          <p:nvPr/>
        </p:nvSpPr>
        <p:spPr>
          <a:xfrm>
            <a:off x="1276200" y="2647800"/>
            <a:ext cx="1352160" cy="171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1" u="none" strike="noStrike">
                <a:solidFill>
                  <a:srgbClr val="111111"/>
                </a:solidFill>
                <a:effectLst/>
                <a:uFillTx/>
                <a:latin typeface="Avenir Next"/>
                <a:ea typeface="Avenir Next"/>
              </a:rPr>
              <a:t>PET/CT scans</a:t>
            </a:r>
            <a:endParaRPr lang="en-US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" name=""/>
          <p:cNvSpPr/>
          <p:nvPr/>
        </p:nvSpPr>
        <p:spPr>
          <a:xfrm>
            <a:off x="1276200" y="2838600"/>
            <a:ext cx="1352160" cy="1900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10" b="0" u="none" strike="noStrike">
                <a:solidFill>
                  <a:srgbClr val="6E6E73"/>
                </a:solidFill>
                <a:effectLst/>
                <a:uFillTx/>
                <a:latin typeface="Avenir Next"/>
                <a:ea typeface="Avenir Next"/>
              </a:rPr>
              <a:t>235 mCRPC patients</a:t>
            </a:r>
            <a:endParaRPr lang="en-US" sz="7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1" name=""/>
          <p:cNvSpPr/>
          <p:nvPr/>
        </p:nvSpPr>
        <p:spPr>
          <a:xfrm>
            <a:off x="3076560" y="2133720"/>
            <a:ext cx="1695240" cy="1028520"/>
          </a:xfrm>
          <a:prstGeom prst="rect">
            <a:avLst/>
          </a:prstGeom>
          <a:solidFill>
            <a:srgbClr val="EEF2F8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"/>
          <p:cNvSpPr/>
          <p:nvPr/>
        </p:nvSpPr>
        <p:spPr>
          <a:xfrm>
            <a:off x="3029040" y="2076480"/>
            <a:ext cx="1695240" cy="1028520"/>
          </a:xfrm>
          <a:prstGeom prst="rect">
            <a:avLst/>
          </a:prstGeom>
          <a:solidFill>
            <a:srgbClr val="FFFFFF"/>
          </a:solidFill>
          <a:ln w="9525">
            <a:solidFill>
              <a:srgbClr val="D2D2D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"/>
          <p:cNvSpPr/>
          <p:nvPr/>
        </p:nvSpPr>
        <p:spPr>
          <a:xfrm>
            <a:off x="3200400" y="2247840"/>
            <a:ext cx="1352160" cy="3614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20" b="1" u="none" strike="noStrike">
                <a:solidFill>
                  <a:srgbClr val="FF9F0A"/>
                </a:solidFill>
                <a:effectLst/>
                <a:uFillTx/>
                <a:latin typeface="Avenir Next"/>
                <a:ea typeface="Avenir Next"/>
              </a:rPr>
              <a:t>54%</a:t>
            </a:r>
            <a:endParaRPr lang="en-US" sz="26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4" name=""/>
          <p:cNvSpPr/>
          <p:nvPr/>
        </p:nvSpPr>
        <p:spPr>
          <a:xfrm>
            <a:off x="3200400" y="2647800"/>
            <a:ext cx="1352160" cy="171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1" u="none" strike="noStrike">
                <a:solidFill>
                  <a:srgbClr val="111111"/>
                </a:solidFill>
                <a:effectLst/>
                <a:uFillTx/>
                <a:latin typeface="Avenir Next"/>
                <a:ea typeface="Avenir Next"/>
              </a:rPr>
              <a:t>progression</a:t>
            </a:r>
            <a:endParaRPr lang="en-US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5" name=""/>
          <p:cNvSpPr/>
          <p:nvPr/>
        </p:nvSpPr>
        <p:spPr>
          <a:xfrm>
            <a:off x="3200400" y="2838600"/>
            <a:ext cx="1352160" cy="1900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10" b="0" u="none" strike="noStrike">
                <a:solidFill>
                  <a:srgbClr val="6E6E73"/>
                </a:solidFill>
                <a:effectLst/>
                <a:uFillTx/>
                <a:latin typeface="Avenir Next"/>
                <a:ea typeface="Avenir Next"/>
              </a:rPr>
              <a:t>11C-Choline scans</a:t>
            </a:r>
            <a:endParaRPr lang="en-US" sz="7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6" name=""/>
          <p:cNvSpPr/>
          <p:nvPr/>
        </p:nvSpPr>
        <p:spPr>
          <a:xfrm>
            <a:off x="5000760" y="2133720"/>
            <a:ext cx="1695240" cy="1028520"/>
          </a:xfrm>
          <a:prstGeom prst="rect">
            <a:avLst/>
          </a:prstGeom>
          <a:solidFill>
            <a:srgbClr val="EEF2F8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"/>
          <p:cNvSpPr/>
          <p:nvPr/>
        </p:nvSpPr>
        <p:spPr>
          <a:xfrm>
            <a:off x="4952880" y="2076480"/>
            <a:ext cx="1695240" cy="1028520"/>
          </a:xfrm>
          <a:prstGeom prst="rect">
            <a:avLst/>
          </a:prstGeom>
          <a:solidFill>
            <a:srgbClr val="FFFFFF"/>
          </a:solidFill>
          <a:ln w="9525">
            <a:solidFill>
              <a:srgbClr val="D2D2D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"/>
          <p:cNvSpPr/>
          <p:nvPr/>
        </p:nvSpPr>
        <p:spPr>
          <a:xfrm>
            <a:off x="5124600" y="2247840"/>
            <a:ext cx="1352160" cy="3614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20" b="1" u="none" strike="noStrike">
                <a:solidFill>
                  <a:srgbClr val="AF52DE"/>
                </a:solidFill>
                <a:effectLst/>
                <a:uFillTx/>
                <a:latin typeface="Avenir Next"/>
                <a:ea typeface="Avenir Next"/>
              </a:rPr>
              <a:t>40%</a:t>
            </a:r>
            <a:endParaRPr lang="en-US" sz="26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9" name=""/>
          <p:cNvSpPr/>
          <p:nvPr/>
        </p:nvSpPr>
        <p:spPr>
          <a:xfrm>
            <a:off x="5124600" y="2647800"/>
            <a:ext cx="1352160" cy="171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1" u="none" strike="noStrike">
                <a:solidFill>
                  <a:srgbClr val="111111"/>
                </a:solidFill>
                <a:effectLst/>
                <a:uFillTx/>
                <a:latin typeface="Avenir Next"/>
                <a:ea typeface="Avenir Next"/>
              </a:rPr>
              <a:t>progression</a:t>
            </a:r>
            <a:endParaRPr lang="en-US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0" name=""/>
          <p:cNvSpPr/>
          <p:nvPr/>
        </p:nvSpPr>
        <p:spPr>
          <a:xfrm>
            <a:off x="5124600" y="2838600"/>
            <a:ext cx="1352160" cy="1900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10" b="0" u="none" strike="noStrike">
                <a:solidFill>
                  <a:srgbClr val="6E6E73"/>
                </a:solidFill>
                <a:effectLst/>
                <a:uFillTx/>
                <a:latin typeface="Avenir Next"/>
                <a:ea typeface="Avenir Next"/>
              </a:rPr>
              <a:t>PSMA PET scans</a:t>
            </a:r>
            <a:endParaRPr lang="en-US" sz="7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" name=""/>
          <p:cNvSpPr/>
          <p:nvPr/>
        </p:nvSpPr>
        <p:spPr>
          <a:xfrm>
            <a:off x="6924600" y="2133720"/>
            <a:ext cx="1695240" cy="1028520"/>
          </a:xfrm>
          <a:prstGeom prst="rect">
            <a:avLst/>
          </a:prstGeom>
          <a:solidFill>
            <a:srgbClr val="EEF2F8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"/>
          <p:cNvSpPr/>
          <p:nvPr/>
        </p:nvSpPr>
        <p:spPr>
          <a:xfrm>
            <a:off x="6877080" y="2076480"/>
            <a:ext cx="1695240" cy="1028520"/>
          </a:xfrm>
          <a:prstGeom prst="rect">
            <a:avLst/>
          </a:prstGeom>
          <a:solidFill>
            <a:srgbClr val="FFFFFF"/>
          </a:solidFill>
          <a:ln w="9525">
            <a:solidFill>
              <a:srgbClr val="D2D2D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"/>
          <p:cNvSpPr/>
          <p:nvPr/>
        </p:nvSpPr>
        <p:spPr>
          <a:xfrm>
            <a:off x="7048440" y="2247840"/>
            <a:ext cx="1352160" cy="3614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50" b="1" u="none" strike="noStrike">
                <a:solidFill>
                  <a:srgbClr val="34C759"/>
                </a:solidFill>
                <a:effectLst/>
                <a:uFillTx/>
                <a:latin typeface="Avenir Next"/>
                <a:ea typeface="Avenir Next"/>
              </a:rPr>
              <a:t>2.0 vs 4.1</a:t>
            </a:r>
            <a:endParaRPr lang="en-US" sz="1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4" name=""/>
          <p:cNvSpPr/>
          <p:nvPr/>
        </p:nvSpPr>
        <p:spPr>
          <a:xfrm>
            <a:off x="7048440" y="2647800"/>
            <a:ext cx="1352160" cy="171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1" u="none" strike="noStrike">
                <a:solidFill>
                  <a:srgbClr val="111111"/>
                </a:solidFill>
                <a:effectLst/>
                <a:uFillTx/>
                <a:latin typeface="Avenir Next"/>
                <a:ea typeface="Avenir Next"/>
              </a:rPr>
              <a:t>PSA at progression</a:t>
            </a:r>
            <a:endParaRPr lang="en-US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5" name=""/>
          <p:cNvSpPr/>
          <p:nvPr/>
        </p:nvSpPr>
        <p:spPr>
          <a:xfrm>
            <a:off x="7048440" y="2838600"/>
            <a:ext cx="1352160" cy="1900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10" b="0" u="none" strike="noStrike">
                <a:solidFill>
                  <a:srgbClr val="6E6E73"/>
                </a:solidFill>
                <a:effectLst/>
                <a:uFillTx/>
                <a:latin typeface="Avenir Next"/>
                <a:ea typeface="Avenir Next"/>
              </a:rPr>
              <a:t>ng/mL, p=0.003</a:t>
            </a:r>
            <a:endParaRPr lang="en-US" sz="7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6" name=""/>
          <p:cNvSpPr/>
          <p:nvPr/>
        </p:nvSpPr>
        <p:spPr>
          <a:xfrm>
            <a:off x="685800" y="6477120"/>
            <a:ext cx="8953200" cy="171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10" b="0" u="none" strike="noStrike">
                <a:solidFill>
                  <a:srgbClr val="6E6E73"/>
                </a:solidFill>
                <a:effectLst/>
                <a:uFillTx/>
                <a:latin typeface="Avenir Next"/>
                <a:ea typeface="Avenir Next"/>
              </a:rPr>
              <a:t>Source: IP73-16 original poster PDF. Interpret as retrospective registry signal, not definitive imaging standard.</a:t>
            </a:r>
            <a:endParaRPr lang="en-US" sz="7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7" name=""/>
          <p:cNvSpPr/>
          <p:nvPr/>
        </p:nvSpPr>
        <p:spPr>
          <a:xfrm>
            <a:off x="11049120" y="6419880"/>
            <a:ext cx="456840" cy="2282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6E6E73"/>
                </a:solidFill>
                <a:effectLst/>
                <a:uFillTx/>
                <a:latin typeface="Avenir Next"/>
                <a:ea typeface="Avenir Next"/>
              </a:rPr>
              <a:t>07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BFBFD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"/>
          <p:cNvSpPr/>
          <p:nvPr/>
        </p:nvSpPr>
        <p:spPr>
          <a:xfrm>
            <a:off x="0" y="0"/>
            <a:ext cx="12191760" cy="56880"/>
          </a:xfrm>
          <a:prstGeom prst="rect">
            <a:avLst/>
          </a:prstGeom>
          <a:solidFill>
            <a:srgbClr val="0071E3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12240" rIns="90000" bIns="122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0" name=""/>
          <p:cNvSpPr/>
          <p:nvPr/>
        </p:nvSpPr>
        <p:spPr>
          <a:xfrm>
            <a:off x="685800" y="476280"/>
            <a:ext cx="85320" cy="85320"/>
          </a:xfrm>
          <a:prstGeom prst="ellipse">
            <a:avLst/>
          </a:prstGeom>
          <a:solidFill>
            <a:srgbClr val="0071E3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15840" rIns="90000" bIns="158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1" name=""/>
          <p:cNvSpPr/>
          <p:nvPr/>
        </p:nvSpPr>
        <p:spPr>
          <a:xfrm>
            <a:off x="857160" y="438120"/>
            <a:ext cx="3428640" cy="1900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6E6E73"/>
                </a:solidFill>
                <a:effectLst/>
                <a:uFillTx/>
                <a:latin typeface="Avenir Next"/>
                <a:ea typeface="Avenir Next"/>
              </a:rPr>
              <a:t>MCRPC PRECISION</a:t>
            </a:r>
            <a:endParaRPr lang="en-US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2" name=""/>
          <p:cNvSpPr/>
          <p:nvPr/>
        </p:nvSpPr>
        <p:spPr>
          <a:xfrm>
            <a:off x="685800" y="800280"/>
            <a:ext cx="8096040" cy="8758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80" b="1" u="none" strike="noStrike">
                <a:solidFill>
                  <a:srgbClr val="111111"/>
                </a:solidFill>
                <a:effectLst/>
                <a:uFillTx/>
                <a:latin typeface="Avenir Next"/>
                <a:ea typeface="Avenir Next"/>
              </a:rPr>
              <a:t>BRCA is no longer a binary checkbox.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3" name=""/>
          <p:cNvSpPr/>
          <p:nvPr/>
        </p:nvSpPr>
        <p:spPr>
          <a:xfrm>
            <a:off x="685800" y="1714680"/>
            <a:ext cx="8381520" cy="4568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6E6E73"/>
                </a:solidFill>
                <a:effectLst/>
                <a:uFillTx/>
                <a:latin typeface="Avenir Next"/>
                <a:ea typeface="Avenir Next"/>
              </a:rPr>
              <a:t>A large Japanese CGP cohort argues for variant-level annotation and treatment interpretation beyond simply 'BRCA altered' or 'not altered'.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4" name=""/>
          <p:cNvSpPr/>
          <p:nvPr/>
        </p:nvSpPr>
        <p:spPr>
          <a:xfrm>
            <a:off x="905040" y="2400480"/>
            <a:ext cx="4914720" cy="2590560"/>
          </a:xfrm>
          <a:prstGeom prst="rect">
            <a:avLst/>
          </a:prstGeom>
          <a:solidFill>
            <a:srgbClr val="EEF2F8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"/>
          <p:cNvSpPr/>
          <p:nvPr/>
        </p:nvSpPr>
        <p:spPr>
          <a:xfrm>
            <a:off x="857160" y="2343240"/>
            <a:ext cx="4914720" cy="2590560"/>
          </a:xfrm>
          <a:prstGeom prst="rect">
            <a:avLst/>
          </a:prstGeom>
          <a:solidFill>
            <a:srgbClr val="FFFFFF"/>
          </a:solidFill>
          <a:ln w="9525">
            <a:solidFill>
              <a:srgbClr val="D2D2D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"/>
          <p:cNvSpPr/>
          <p:nvPr/>
        </p:nvSpPr>
        <p:spPr>
          <a:xfrm>
            <a:off x="1123920" y="2571840"/>
            <a:ext cx="1714320" cy="209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1" u="none" strike="noStrike">
                <a:solidFill>
                  <a:srgbClr val="AF52DE"/>
                </a:solidFill>
                <a:effectLst/>
                <a:uFillTx/>
                <a:latin typeface="Avenir Next"/>
                <a:ea typeface="Avenir Next"/>
              </a:rPr>
              <a:t>CGP landscape</a:t>
            </a:r>
            <a:endParaRPr lang="en-US" sz="1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7" name=""/>
          <p:cNvSpPr/>
          <p:nvPr/>
        </p:nvSpPr>
        <p:spPr>
          <a:xfrm>
            <a:off x="1181160" y="3009960"/>
            <a:ext cx="666360" cy="1900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111111"/>
                </a:solidFill>
                <a:effectLst/>
                <a:uFillTx/>
                <a:latin typeface="Avenir Next"/>
                <a:ea typeface="Avenir Next"/>
              </a:rPr>
              <a:t>TP53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8" name=""/>
          <p:cNvSpPr/>
          <p:nvPr/>
        </p:nvSpPr>
        <p:spPr>
          <a:xfrm>
            <a:off x="2000160" y="3048120"/>
            <a:ext cx="2571480" cy="151920"/>
          </a:xfrm>
          <a:prstGeom prst="rect">
            <a:avLst/>
          </a:prstGeom>
          <a:solidFill>
            <a:srgbClr val="E9EAED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"/>
          <p:cNvSpPr/>
          <p:nvPr/>
        </p:nvSpPr>
        <p:spPr>
          <a:xfrm>
            <a:off x="2000160" y="3048120"/>
            <a:ext cx="2047680" cy="151920"/>
          </a:xfrm>
          <a:prstGeom prst="rect">
            <a:avLst/>
          </a:prstGeom>
          <a:solidFill>
            <a:srgbClr val="6E6E73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0" name=""/>
          <p:cNvSpPr/>
          <p:nvPr/>
        </p:nvSpPr>
        <p:spPr>
          <a:xfrm>
            <a:off x="1181160" y="3409920"/>
            <a:ext cx="666360" cy="1900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111111"/>
                </a:solidFill>
                <a:effectLst/>
                <a:uFillTx/>
                <a:latin typeface="Avenir Next"/>
                <a:ea typeface="Avenir Next"/>
              </a:rPr>
              <a:t>BRCA2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1" name=""/>
          <p:cNvSpPr/>
          <p:nvPr/>
        </p:nvSpPr>
        <p:spPr>
          <a:xfrm>
            <a:off x="2000160" y="3448080"/>
            <a:ext cx="2571480" cy="151920"/>
          </a:xfrm>
          <a:prstGeom prst="rect">
            <a:avLst/>
          </a:prstGeom>
          <a:solidFill>
            <a:srgbClr val="E9EAED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"/>
          <p:cNvSpPr/>
          <p:nvPr/>
        </p:nvSpPr>
        <p:spPr>
          <a:xfrm>
            <a:off x="2000160" y="3448080"/>
            <a:ext cx="1714320" cy="151920"/>
          </a:xfrm>
          <a:prstGeom prst="rect">
            <a:avLst/>
          </a:prstGeom>
          <a:solidFill>
            <a:srgbClr val="AF52DE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3" name=""/>
          <p:cNvSpPr/>
          <p:nvPr/>
        </p:nvSpPr>
        <p:spPr>
          <a:xfrm>
            <a:off x="1181160" y="3809880"/>
            <a:ext cx="666360" cy="1900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111111"/>
                </a:solidFill>
                <a:effectLst/>
                <a:uFillTx/>
                <a:latin typeface="Avenir Next"/>
                <a:ea typeface="Avenir Next"/>
              </a:rPr>
              <a:t>CDK12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4" name=""/>
          <p:cNvSpPr/>
          <p:nvPr/>
        </p:nvSpPr>
        <p:spPr>
          <a:xfrm>
            <a:off x="2000160" y="3848040"/>
            <a:ext cx="2571480" cy="151920"/>
          </a:xfrm>
          <a:prstGeom prst="rect">
            <a:avLst/>
          </a:prstGeom>
          <a:solidFill>
            <a:srgbClr val="E9EAED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"/>
          <p:cNvSpPr/>
          <p:nvPr/>
        </p:nvSpPr>
        <p:spPr>
          <a:xfrm>
            <a:off x="2000160" y="3848040"/>
            <a:ext cx="1380600" cy="151920"/>
          </a:xfrm>
          <a:prstGeom prst="rect">
            <a:avLst/>
          </a:prstGeom>
          <a:solidFill>
            <a:srgbClr val="FF9F0A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"/>
          <p:cNvSpPr/>
          <p:nvPr/>
        </p:nvSpPr>
        <p:spPr>
          <a:xfrm>
            <a:off x="1181160" y="4210200"/>
            <a:ext cx="666360" cy="1900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111111"/>
                </a:solidFill>
                <a:effectLst/>
                <a:uFillTx/>
                <a:latin typeface="Avenir Next"/>
                <a:ea typeface="Avenir Next"/>
              </a:rPr>
              <a:t>ATM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7" name=""/>
          <p:cNvSpPr/>
          <p:nvPr/>
        </p:nvSpPr>
        <p:spPr>
          <a:xfrm>
            <a:off x="2000160" y="4248000"/>
            <a:ext cx="2571480" cy="151920"/>
          </a:xfrm>
          <a:prstGeom prst="rect">
            <a:avLst/>
          </a:prstGeom>
          <a:solidFill>
            <a:srgbClr val="E9EAED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"/>
          <p:cNvSpPr/>
          <p:nvPr/>
        </p:nvSpPr>
        <p:spPr>
          <a:xfrm>
            <a:off x="2000160" y="4248000"/>
            <a:ext cx="1047240" cy="151920"/>
          </a:xfrm>
          <a:prstGeom prst="rect">
            <a:avLst/>
          </a:prstGeom>
          <a:solidFill>
            <a:srgbClr val="0071E3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9" name=""/>
          <p:cNvSpPr/>
          <p:nvPr/>
        </p:nvSpPr>
        <p:spPr>
          <a:xfrm>
            <a:off x="6372360" y="2400480"/>
            <a:ext cx="3733560" cy="2590560"/>
          </a:xfrm>
          <a:prstGeom prst="rect">
            <a:avLst/>
          </a:prstGeom>
          <a:solidFill>
            <a:srgbClr val="EEF2F8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"/>
          <p:cNvSpPr/>
          <p:nvPr/>
        </p:nvSpPr>
        <p:spPr>
          <a:xfrm>
            <a:off x="6324480" y="2343240"/>
            <a:ext cx="3733560" cy="2590560"/>
          </a:xfrm>
          <a:prstGeom prst="rect">
            <a:avLst/>
          </a:prstGeom>
          <a:solidFill>
            <a:srgbClr val="F4E7FB"/>
          </a:solidFill>
          <a:ln w="9525">
            <a:solidFill>
              <a:srgbClr val="D2D2D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"/>
          <p:cNvSpPr/>
          <p:nvPr/>
        </p:nvSpPr>
        <p:spPr>
          <a:xfrm>
            <a:off x="6591240" y="2590920"/>
            <a:ext cx="1809360" cy="1900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1" u="none" strike="noStrike">
                <a:solidFill>
                  <a:srgbClr val="AF52DE"/>
                </a:solidFill>
                <a:effectLst/>
                <a:uFillTx/>
                <a:latin typeface="Avenir Next"/>
                <a:ea typeface="Avenir Next"/>
              </a:rPr>
              <a:t>Clinical readout</a:t>
            </a:r>
            <a:endParaRPr lang="en-US" sz="1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2" name=""/>
          <p:cNvSpPr/>
          <p:nvPr/>
        </p:nvSpPr>
        <p:spPr>
          <a:xfrm>
            <a:off x="6591240" y="2990880"/>
            <a:ext cx="3028680" cy="11044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111111"/>
                </a:solidFill>
                <a:effectLst/>
                <a:uFillTx/>
                <a:latin typeface="Avenir Next"/>
                <a:ea typeface="Avenir Next"/>
              </a:rPr>
              <a:t>- BRCA1 PVs: inferior outcomes vs BRCA2 PVs</a:t>
            </a:r>
            <a:endParaRPr lang="en-US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111111"/>
                </a:solidFill>
                <a:effectLst/>
                <a:uFillTx/>
                <a:latin typeface="Avenir Next"/>
                <a:ea typeface="Avenir Next"/>
              </a:rPr>
              <a:t>- BRCA2 loss: most favorable olaparib response signal</a:t>
            </a:r>
            <a:endParaRPr lang="en-US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111111"/>
                </a:solidFill>
                <a:effectLst/>
                <a:uFillTx/>
                <a:latin typeface="Avenir Next"/>
                <a:ea typeface="Avenir Next"/>
              </a:rPr>
              <a:t>- MTB review shifted earlier in recent cases</a:t>
            </a:r>
            <a:endParaRPr lang="en-US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111111"/>
                </a:solidFill>
                <a:effectLst/>
                <a:uFillTx/>
                <a:latin typeface="Avenir Next"/>
                <a:ea typeface="Avenir Next"/>
              </a:rPr>
              <a:t>- NEPC phenotype remains a separate escape problem</a:t>
            </a:r>
            <a:endParaRPr lang="en-US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3" name=""/>
          <p:cNvSpPr/>
          <p:nvPr/>
        </p:nvSpPr>
        <p:spPr>
          <a:xfrm>
            <a:off x="1171440" y="5353200"/>
            <a:ext cx="8515080" cy="685440"/>
          </a:xfrm>
          <a:prstGeom prst="rect">
            <a:avLst/>
          </a:prstGeom>
          <a:solidFill>
            <a:srgbClr val="EEF2F8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"/>
          <p:cNvSpPr/>
          <p:nvPr/>
        </p:nvSpPr>
        <p:spPr>
          <a:xfrm>
            <a:off x="1123920" y="5295960"/>
            <a:ext cx="8515080" cy="685440"/>
          </a:xfrm>
          <a:prstGeom prst="rect">
            <a:avLst/>
          </a:prstGeom>
          <a:solidFill>
            <a:srgbClr val="FFFFFF"/>
          </a:solidFill>
          <a:ln w="9525">
            <a:solidFill>
              <a:srgbClr val="D2D2D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"/>
          <p:cNvSpPr/>
          <p:nvPr/>
        </p:nvSpPr>
        <p:spPr>
          <a:xfrm>
            <a:off x="1295280" y="5448240"/>
            <a:ext cx="8172000" cy="1519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AF52DE"/>
                </a:solidFill>
                <a:effectLst/>
                <a:uFillTx/>
                <a:latin typeface="Avenir Next"/>
                <a:ea typeface="Avenir Next"/>
              </a:rPr>
              <a:t>PRACTICE POINT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6" name=""/>
          <p:cNvSpPr/>
          <p:nvPr/>
        </p:nvSpPr>
        <p:spPr>
          <a:xfrm>
            <a:off x="1295280" y="5695920"/>
            <a:ext cx="8172000" cy="171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111111"/>
                </a:solidFill>
                <a:effectLst/>
                <a:uFillTx/>
                <a:latin typeface="Avenir Next"/>
                <a:ea typeface="Avenir Next"/>
              </a:rPr>
              <a:t>Order testing early, but read the result deeply: specimen, timing, pathogenicity class, zygosity/loss, CDK12/ATM context, and neuroendocrine phenotype all change the discussion.</a:t>
            </a:r>
            <a:endParaRPr lang="en-US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7" name=""/>
          <p:cNvSpPr/>
          <p:nvPr/>
        </p:nvSpPr>
        <p:spPr>
          <a:xfrm>
            <a:off x="685800" y="6477120"/>
            <a:ext cx="8953200" cy="171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10" b="0" u="none" strike="noStrike">
                <a:solidFill>
                  <a:srgbClr val="6E6E73"/>
                </a:solidFill>
                <a:effectLst/>
                <a:uFillTx/>
                <a:latin typeface="Avenir Next"/>
                <a:ea typeface="Avenir Next"/>
              </a:rPr>
              <a:t>Sources: IP73-24 and IP73-27 original poster PDFs.</a:t>
            </a:r>
            <a:endParaRPr lang="en-US" sz="7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8" name=""/>
          <p:cNvSpPr/>
          <p:nvPr/>
        </p:nvSpPr>
        <p:spPr>
          <a:xfrm>
            <a:off x="11049120" y="6419880"/>
            <a:ext cx="456840" cy="2282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6E6E73"/>
                </a:solidFill>
                <a:effectLst/>
                <a:uFillTx/>
                <a:latin typeface="Avenir Next"/>
                <a:ea typeface="Avenir Next"/>
              </a:rPr>
              <a:t>08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BFBFD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"/>
          <p:cNvSpPr/>
          <p:nvPr/>
        </p:nvSpPr>
        <p:spPr>
          <a:xfrm>
            <a:off x="0" y="0"/>
            <a:ext cx="12191760" cy="56880"/>
          </a:xfrm>
          <a:prstGeom prst="rect">
            <a:avLst/>
          </a:prstGeom>
          <a:solidFill>
            <a:srgbClr val="0071E3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12240" rIns="90000" bIns="122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1" name=""/>
          <p:cNvSpPr/>
          <p:nvPr/>
        </p:nvSpPr>
        <p:spPr>
          <a:xfrm>
            <a:off x="685800" y="476280"/>
            <a:ext cx="85320" cy="85320"/>
          </a:xfrm>
          <a:prstGeom prst="ellipse">
            <a:avLst/>
          </a:prstGeom>
          <a:solidFill>
            <a:srgbClr val="0071E3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15840" rIns="90000" bIns="158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2" name=""/>
          <p:cNvSpPr/>
          <p:nvPr/>
        </p:nvSpPr>
        <p:spPr>
          <a:xfrm>
            <a:off x="857160" y="438120"/>
            <a:ext cx="3428640" cy="1900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6E6E73"/>
                </a:solidFill>
                <a:effectLst/>
                <a:uFillTx/>
                <a:latin typeface="Avenir Next"/>
                <a:ea typeface="Avenir Next"/>
              </a:rPr>
              <a:t>TOXICITY DURABILITY</a:t>
            </a:r>
            <a:endParaRPr lang="en-US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3" name=""/>
          <p:cNvSpPr/>
          <p:nvPr/>
        </p:nvSpPr>
        <p:spPr>
          <a:xfrm>
            <a:off x="685800" y="800280"/>
            <a:ext cx="8096040" cy="8758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150" b="1" u="none" strike="noStrike">
                <a:solidFill>
                  <a:srgbClr val="111111"/>
                </a:solidFill>
                <a:effectLst/>
                <a:uFillTx/>
                <a:latin typeface="Avenir Next"/>
                <a:ea typeface="Avenir Next"/>
              </a:rPr>
              <a:t>The hidden endpoint is clinic durability.</a:t>
            </a:r>
            <a:endParaRPr lang="en-US" sz="3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4" name=""/>
          <p:cNvSpPr/>
          <p:nvPr/>
        </p:nvSpPr>
        <p:spPr>
          <a:xfrm>
            <a:off x="685800" y="1714680"/>
            <a:ext cx="8476920" cy="4568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6E6E73"/>
                </a:solidFill>
                <a:effectLst/>
                <a:uFillTx/>
                <a:latin typeface="Avenir Next"/>
                <a:ea typeface="Avenir Next"/>
              </a:rPr>
              <a:t>AUA 2026 toxicity posters make the same point: intensified therapy fails if adverse effects are handled as afterthoughts.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5" name=""/>
          <p:cNvSpPr/>
          <p:nvPr/>
        </p:nvSpPr>
        <p:spPr>
          <a:xfrm>
            <a:off x="961920" y="2666880"/>
            <a:ext cx="1695240" cy="1028520"/>
          </a:xfrm>
          <a:prstGeom prst="rect">
            <a:avLst/>
          </a:prstGeom>
          <a:solidFill>
            <a:srgbClr val="EEF2F8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"/>
          <p:cNvSpPr/>
          <p:nvPr/>
        </p:nvSpPr>
        <p:spPr>
          <a:xfrm>
            <a:off x="914400" y="2610000"/>
            <a:ext cx="1695240" cy="1028520"/>
          </a:xfrm>
          <a:prstGeom prst="rect">
            <a:avLst/>
          </a:prstGeom>
          <a:solidFill>
            <a:srgbClr val="FFFFFF"/>
          </a:solidFill>
          <a:ln w="9525">
            <a:solidFill>
              <a:srgbClr val="D2D2D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"/>
          <p:cNvSpPr/>
          <p:nvPr/>
        </p:nvSpPr>
        <p:spPr>
          <a:xfrm>
            <a:off x="1085760" y="2781360"/>
            <a:ext cx="1352160" cy="3614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20" b="1" u="none" strike="noStrike">
                <a:solidFill>
                  <a:srgbClr val="34C759"/>
                </a:solidFill>
                <a:effectLst/>
                <a:uFillTx/>
                <a:latin typeface="Avenir Next"/>
                <a:ea typeface="Avenir Next"/>
              </a:rPr>
              <a:t>270</a:t>
            </a:r>
            <a:endParaRPr lang="en-US" sz="26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8" name=""/>
          <p:cNvSpPr/>
          <p:nvPr/>
        </p:nvSpPr>
        <p:spPr>
          <a:xfrm>
            <a:off x="1085760" y="3181320"/>
            <a:ext cx="1352160" cy="171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1" u="none" strike="noStrike">
                <a:solidFill>
                  <a:srgbClr val="111111"/>
                </a:solidFill>
                <a:effectLst/>
                <a:uFillTx/>
                <a:latin typeface="Avenir Next"/>
                <a:ea typeface="Avenir Next"/>
              </a:rPr>
              <a:t>PC360 enrolled</a:t>
            </a:r>
            <a:endParaRPr lang="en-US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9" name=""/>
          <p:cNvSpPr/>
          <p:nvPr/>
        </p:nvSpPr>
        <p:spPr>
          <a:xfrm>
            <a:off x="1085760" y="3371760"/>
            <a:ext cx="1352160" cy="1900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10" b="0" u="none" strike="noStrike">
                <a:solidFill>
                  <a:srgbClr val="6E6E73"/>
                </a:solidFill>
                <a:effectLst/>
                <a:uFillTx/>
                <a:latin typeface="Avenir Next"/>
                <a:ea typeface="Avenir Next"/>
              </a:rPr>
              <a:t>5-domain ADT care model</a:t>
            </a:r>
            <a:endParaRPr lang="en-US" sz="7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0" name=""/>
          <p:cNvSpPr/>
          <p:nvPr/>
        </p:nvSpPr>
        <p:spPr>
          <a:xfrm>
            <a:off x="961920" y="4000680"/>
            <a:ext cx="1695240" cy="1028520"/>
          </a:xfrm>
          <a:prstGeom prst="rect">
            <a:avLst/>
          </a:prstGeom>
          <a:solidFill>
            <a:srgbClr val="EEF2F8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"/>
          <p:cNvSpPr/>
          <p:nvPr/>
        </p:nvSpPr>
        <p:spPr>
          <a:xfrm>
            <a:off x="914400" y="3943440"/>
            <a:ext cx="1695240" cy="1028520"/>
          </a:xfrm>
          <a:prstGeom prst="rect">
            <a:avLst/>
          </a:prstGeom>
          <a:solidFill>
            <a:srgbClr val="FFFFFF"/>
          </a:solidFill>
          <a:ln w="9525">
            <a:solidFill>
              <a:srgbClr val="D2D2D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"/>
          <p:cNvSpPr/>
          <p:nvPr/>
        </p:nvSpPr>
        <p:spPr>
          <a:xfrm>
            <a:off x="1085760" y="4114800"/>
            <a:ext cx="1352160" cy="3614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20" b="1" u="none" strike="noStrike">
                <a:solidFill>
                  <a:srgbClr val="FF9F0A"/>
                </a:solidFill>
                <a:effectLst/>
                <a:uFillTx/>
                <a:latin typeface="Avenir Next"/>
                <a:ea typeface="Avenir Next"/>
              </a:rPr>
              <a:t>20.3%</a:t>
            </a:r>
            <a:endParaRPr lang="en-US" sz="26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3" name=""/>
          <p:cNvSpPr/>
          <p:nvPr/>
        </p:nvSpPr>
        <p:spPr>
          <a:xfrm>
            <a:off x="1085760" y="4514760"/>
            <a:ext cx="1352160" cy="171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1" u="none" strike="noStrike">
                <a:solidFill>
                  <a:srgbClr val="111111"/>
                </a:solidFill>
                <a:effectLst/>
                <a:uFillTx/>
                <a:latin typeface="Avenir Next"/>
                <a:ea typeface="Avenir Next"/>
              </a:rPr>
              <a:t>MRONJ at 3 yr</a:t>
            </a:r>
            <a:endParaRPr lang="en-US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4" name=""/>
          <p:cNvSpPr/>
          <p:nvPr/>
        </p:nvSpPr>
        <p:spPr>
          <a:xfrm>
            <a:off x="1085760" y="4705200"/>
            <a:ext cx="1352160" cy="1900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10" b="0" u="none" strike="noStrike">
                <a:solidFill>
                  <a:srgbClr val="6E6E73"/>
                </a:solidFill>
                <a:effectLst/>
                <a:uFillTx/>
                <a:latin typeface="Avenir Next"/>
                <a:ea typeface="Avenir Next"/>
              </a:rPr>
              <a:t>denosumab cohort signal</a:t>
            </a:r>
            <a:endParaRPr lang="en-US" sz="7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5" name=""/>
          <p:cNvSpPr/>
          <p:nvPr/>
        </p:nvSpPr>
        <p:spPr>
          <a:xfrm>
            <a:off x="3324240" y="2400480"/>
            <a:ext cx="4952520" cy="2342880"/>
          </a:xfrm>
          <a:prstGeom prst="rect">
            <a:avLst/>
          </a:prstGeom>
          <a:solidFill>
            <a:srgbClr val="EEF2F8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"/>
          <p:cNvSpPr/>
          <p:nvPr/>
        </p:nvSpPr>
        <p:spPr>
          <a:xfrm>
            <a:off x="3276720" y="2343240"/>
            <a:ext cx="4952520" cy="2342880"/>
          </a:xfrm>
          <a:prstGeom prst="rect">
            <a:avLst/>
          </a:prstGeom>
          <a:solidFill>
            <a:srgbClr val="FFFFFF"/>
          </a:solidFill>
          <a:ln w="9525">
            <a:solidFill>
              <a:srgbClr val="D2D2D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"/>
          <p:cNvSpPr/>
          <p:nvPr/>
        </p:nvSpPr>
        <p:spPr>
          <a:xfrm>
            <a:off x="3562200" y="2610000"/>
            <a:ext cx="3428640" cy="209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071E3"/>
                </a:solidFill>
                <a:effectLst/>
                <a:uFillTx/>
                <a:latin typeface="Avenir Next"/>
                <a:ea typeface="Avenir Next"/>
              </a:rPr>
              <a:t>Supportive-care operating model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8" name=""/>
          <p:cNvSpPr/>
          <p:nvPr/>
        </p:nvSpPr>
        <p:spPr>
          <a:xfrm>
            <a:off x="3600360" y="3067200"/>
            <a:ext cx="1790280" cy="323640"/>
          </a:xfrm>
          <a:prstGeom prst="rect">
            <a:avLst/>
          </a:prstGeom>
          <a:solidFill>
            <a:srgbClr val="FF3B30">
              <a:alpha val="13000"/>
            </a:srgbClr>
          </a:solidFill>
          <a:ln w="9525">
            <a:solidFill>
              <a:srgbClr val="FF3B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9" name=""/>
          <p:cNvSpPr/>
          <p:nvPr/>
        </p:nvSpPr>
        <p:spPr>
          <a:xfrm>
            <a:off x="3714840" y="3143160"/>
            <a:ext cx="1561680" cy="171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10" b="1" u="none" strike="noStrike">
                <a:solidFill>
                  <a:srgbClr val="111111"/>
                </a:solidFill>
                <a:effectLst/>
                <a:uFillTx/>
                <a:latin typeface="Avenir Next"/>
                <a:ea typeface="Avenir Next"/>
              </a:rPr>
              <a:t>Cardiometabolic</a:t>
            </a:r>
            <a:endParaRPr lang="en-US" sz="10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0" name=""/>
          <p:cNvSpPr/>
          <p:nvPr/>
        </p:nvSpPr>
        <p:spPr>
          <a:xfrm>
            <a:off x="5810400" y="3067200"/>
            <a:ext cx="1790280" cy="323640"/>
          </a:xfrm>
          <a:prstGeom prst="rect">
            <a:avLst/>
          </a:prstGeom>
          <a:solidFill>
            <a:srgbClr val="FF9F0A">
              <a:alpha val="13000"/>
            </a:srgbClr>
          </a:solidFill>
          <a:ln w="9525">
            <a:solidFill>
              <a:srgbClr val="FF9F0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"/>
          <p:cNvSpPr/>
          <p:nvPr/>
        </p:nvSpPr>
        <p:spPr>
          <a:xfrm>
            <a:off x="5924520" y="3143160"/>
            <a:ext cx="1561680" cy="171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10" b="1" u="none" strike="noStrike">
                <a:solidFill>
                  <a:srgbClr val="111111"/>
                </a:solidFill>
                <a:effectLst/>
                <a:uFillTx/>
                <a:latin typeface="Avenir Next"/>
                <a:ea typeface="Avenir Next"/>
              </a:rPr>
              <a:t>Bone / dental</a:t>
            </a:r>
            <a:endParaRPr lang="en-US" sz="10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2" name=""/>
          <p:cNvSpPr/>
          <p:nvPr/>
        </p:nvSpPr>
        <p:spPr>
          <a:xfrm>
            <a:off x="3600360" y="3581280"/>
            <a:ext cx="1790280" cy="323640"/>
          </a:xfrm>
          <a:prstGeom prst="rect">
            <a:avLst/>
          </a:prstGeom>
          <a:solidFill>
            <a:srgbClr val="AF52DE">
              <a:alpha val="13000"/>
            </a:srgbClr>
          </a:solidFill>
          <a:ln w="9525">
            <a:solidFill>
              <a:srgbClr val="AF52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3" name=""/>
          <p:cNvSpPr/>
          <p:nvPr/>
        </p:nvSpPr>
        <p:spPr>
          <a:xfrm>
            <a:off x="3714840" y="3657600"/>
            <a:ext cx="1561680" cy="171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10" b="1" u="none" strike="noStrike">
                <a:solidFill>
                  <a:srgbClr val="111111"/>
                </a:solidFill>
                <a:effectLst/>
                <a:uFillTx/>
                <a:latin typeface="Avenir Next"/>
                <a:ea typeface="Avenir Next"/>
              </a:rPr>
              <a:t>Mood / cognition</a:t>
            </a:r>
            <a:endParaRPr lang="en-US" sz="10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4" name=""/>
          <p:cNvSpPr/>
          <p:nvPr/>
        </p:nvSpPr>
        <p:spPr>
          <a:xfrm>
            <a:off x="5810400" y="3581280"/>
            <a:ext cx="1790280" cy="323640"/>
          </a:xfrm>
          <a:prstGeom prst="rect">
            <a:avLst/>
          </a:prstGeom>
          <a:solidFill>
            <a:srgbClr val="34C759">
              <a:alpha val="13000"/>
            </a:srgbClr>
          </a:solidFill>
          <a:ln w="9525">
            <a:solidFill>
              <a:srgbClr val="34C7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"/>
          <p:cNvSpPr/>
          <p:nvPr/>
        </p:nvSpPr>
        <p:spPr>
          <a:xfrm>
            <a:off x="5924520" y="3657600"/>
            <a:ext cx="1561680" cy="171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10" b="1" u="none" strike="noStrike">
                <a:solidFill>
                  <a:srgbClr val="111111"/>
                </a:solidFill>
                <a:effectLst/>
                <a:uFillTx/>
                <a:latin typeface="Avenir Next"/>
                <a:ea typeface="Avenir Next"/>
              </a:rPr>
              <a:t>Anemia / QoL</a:t>
            </a:r>
            <a:endParaRPr lang="en-US" sz="10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6" name=""/>
          <p:cNvSpPr/>
          <p:nvPr/>
        </p:nvSpPr>
        <p:spPr>
          <a:xfrm>
            <a:off x="3600360" y="4095720"/>
            <a:ext cx="1790280" cy="323640"/>
          </a:xfrm>
          <a:prstGeom prst="rect">
            <a:avLst/>
          </a:prstGeom>
          <a:solidFill>
            <a:srgbClr val="0071E3">
              <a:alpha val="13000"/>
            </a:srgbClr>
          </a:solidFill>
          <a:ln w="9525">
            <a:solidFill>
              <a:srgbClr val="0071E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7" name=""/>
          <p:cNvSpPr/>
          <p:nvPr/>
        </p:nvSpPr>
        <p:spPr>
          <a:xfrm>
            <a:off x="3714840" y="4172040"/>
            <a:ext cx="1561680" cy="171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10" b="1" u="none" strike="noStrike">
                <a:solidFill>
                  <a:srgbClr val="111111"/>
                </a:solidFill>
                <a:effectLst/>
                <a:uFillTx/>
                <a:latin typeface="Avenir Next"/>
                <a:ea typeface="Avenir Next"/>
              </a:rPr>
              <a:t>Sexual health / exercise</a:t>
            </a:r>
            <a:endParaRPr lang="en-US" sz="10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8" name=""/>
          <p:cNvSpPr/>
          <p:nvPr/>
        </p:nvSpPr>
        <p:spPr>
          <a:xfrm>
            <a:off x="8715240" y="2952720"/>
            <a:ext cx="2190240" cy="1504440"/>
          </a:xfrm>
          <a:prstGeom prst="rect">
            <a:avLst/>
          </a:prstGeom>
          <a:solidFill>
            <a:srgbClr val="EEF2F8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"/>
          <p:cNvSpPr/>
          <p:nvPr/>
        </p:nvSpPr>
        <p:spPr>
          <a:xfrm>
            <a:off x="8667720" y="2895480"/>
            <a:ext cx="2190240" cy="1504440"/>
          </a:xfrm>
          <a:prstGeom prst="rect">
            <a:avLst/>
          </a:prstGeom>
          <a:solidFill>
            <a:srgbClr val="E6F7EC"/>
          </a:solidFill>
          <a:ln w="9525">
            <a:solidFill>
              <a:srgbClr val="D2D2D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"/>
          <p:cNvSpPr/>
          <p:nvPr/>
        </p:nvSpPr>
        <p:spPr>
          <a:xfrm>
            <a:off x="8839080" y="3048120"/>
            <a:ext cx="1847520" cy="1519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34C759"/>
                </a:solidFill>
                <a:effectLst/>
                <a:uFillTx/>
                <a:latin typeface="Avenir Next"/>
                <a:ea typeface="Avenir Next"/>
              </a:rPr>
              <a:t>INTERPRETATION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1" name=""/>
          <p:cNvSpPr/>
          <p:nvPr/>
        </p:nvSpPr>
        <p:spPr>
          <a:xfrm>
            <a:off x="8839080" y="3295800"/>
            <a:ext cx="1847520" cy="9903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111111"/>
                </a:solidFill>
                <a:effectLst/>
                <a:uFillTx/>
                <a:latin typeface="Avenir Next"/>
                <a:ea typeface="Avenir Next"/>
              </a:rPr>
              <a:t>The endpoint is not only response; it is whether patients stay functional, monitored, and able to complete the intended treatment sequence.</a:t>
            </a:r>
            <a:endParaRPr lang="en-US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2" name=""/>
          <p:cNvSpPr/>
          <p:nvPr/>
        </p:nvSpPr>
        <p:spPr>
          <a:xfrm>
            <a:off x="952560" y="5581800"/>
            <a:ext cx="952200" cy="1519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0071E3"/>
                </a:solidFill>
                <a:effectLst/>
                <a:uFillTx/>
                <a:latin typeface="Avenir Next"/>
                <a:ea typeface="Avenir Next"/>
              </a:rPr>
              <a:t>Talk track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3" name=""/>
          <p:cNvSpPr/>
          <p:nvPr/>
        </p:nvSpPr>
        <p:spPr>
          <a:xfrm>
            <a:off x="952560" y="5791320"/>
            <a:ext cx="9619920" cy="2473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111111"/>
                </a:solidFill>
                <a:effectLst/>
                <a:uFillTx/>
                <a:latin typeface="Avenir Next"/>
                <a:ea typeface="Avenir Next"/>
              </a:rPr>
              <a:t>The modern APC clinic needs standing workflows for bone, metabolic risk, mood, cognition, anemia, sexual health, exercise, dental review, and treatment completion.</a:t>
            </a:r>
            <a:endParaRPr lang="en-US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4" name=""/>
          <p:cNvSpPr/>
          <p:nvPr/>
        </p:nvSpPr>
        <p:spPr>
          <a:xfrm>
            <a:off x="685800" y="6477120"/>
            <a:ext cx="8953200" cy="171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10" b="0" u="none" strike="noStrike">
                <a:solidFill>
                  <a:srgbClr val="6E6E73"/>
                </a:solidFill>
                <a:effectLst/>
                <a:uFillTx/>
                <a:latin typeface="Avenir Next"/>
                <a:ea typeface="Avenir Next"/>
              </a:rPr>
              <a:t>Sources: IP38-17, IP73-07, IP73-04, IP38-05 original poster PDFs.</a:t>
            </a:r>
            <a:endParaRPr lang="en-US" sz="7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5" name=""/>
          <p:cNvSpPr/>
          <p:nvPr/>
        </p:nvSpPr>
        <p:spPr>
          <a:xfrm>
            <a:off x="11049120" y="6419880"/>
            <a:ext cx="456840" cy="2282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6E6E73"/>
                </a:solidFill>
                <a:effectLst/>
                <a:uFillTx/>
                <a:latin typeface="Avenir Next"/>
                <a:ea typeface="Avenir Next"/>
              </a:rPr>
              <a:t>09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BFBFD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"/>
          <p:cNvSpPr/>
          <p:nvPr/>
        </p:nvSpPr>
        <p:spPr>
          <a:xfrm>
            <a:off x="0" y="0"/>
            <a:ext cx="12191760" cy="56880"/>
          </a:xfrm>
          <a:prstGeom prst="rect">
            <a:avLst/>
          </a:prstGeom>
          <a:solidFill>
            <a:srgbClr val="0071E3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12240" rIns="90000" bIns="122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8" name=""/>
          <p:cNvSpPr/>
          <p:nvPr/>
        </p:nvSpPr>
        <p:spPr>
          <a:xfrm>
            <a:off x="685800" y="476280"/>
            <a:ext cx="85320" cy="85320"/>
          </a:xfrm>
          <a:prstGeom prst="ellipse">
            <a:avLst/>
          </a:prstGeom>
          <a:solidFill>
            <a:srgbClr val="0071E3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15840" rIns="90000" bIns="158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9" name=""/>
          <p:cNvSpPr/>
          <p:nvPr/>
        </p:nvSpPr>
        <p:spPr>
          <a:xfrm>
            <a:off x="857160" y="438120"/>
            <a:ext cx="3428640" cy="1900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6E6E73"/>
                </a:solidFill>
                <a:effectLst/>
                <a:uFillTx/>
                <a:latin typeface="Avenir Next"/>
                <a:ea typeface="Avenir Next"/>
              </a:rPr>
              <a:t>PRACTICE TRANSLATION</a:t>
            </a:r>
            <a:endParaRPr lang="en-US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0" name=""/>
          <p:cNvSpPr/>
          <p:nvPr/>
        </p:nvSpPr>
        <p:spPr>
          <a:xfrm>
            <a:off x="685800" y="800280"/>
            <a:ext cx="8096040" cy="8758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30" b="1" u="none" strike="noStrike">
                <a:solidFill>
                  <a:srgbClr val="111111"/>
                </a:solidFill>
                <a:effectLst/>
                <a:uFillTx/>
                <a:latin typeface="Avenir Next"/>
                <a:ea typeface="Avenir Next"/>
              </a:rPr>
              <a:t>What I would change after AUA 2026.</a:t>
            </a:r>
            <a:endParaRPr lang="en-US" sz="32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1" name=""/>
          <p:cNvSpPr/>
          <p:nvPr/>
        </p:nvSpPr>
        <p:spPr>
          <a:xfrm>
            <a:off x="685800" y="1714680"/>
            <a:ext cx="8381520" cy="4568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6E6E73"/>
                </a:solidFill>
                <a:effectLst/>
                <a:uFillTx/>
                <a:latin typeface="Avenir Next"/>
                <a:ea typeface="Avenir Next"/>
              </a:rPr>
              <a:t>A practical APC workflow for the Monday clinic: make the default visible, document the exceptions, and audit the pathway.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2" name=""/>
          <p:cNvSpPr/>
          <p:nvPr/>
        </p:nvSpPr>
        <p:spPr>
          <a:xfrm>
            <a:off x="952560" y="2343240"/>
            <a:ext cx="495000" cy="3236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071E3"/>
                </a:solidFill>
                <a:effectLst/>
                <a:uFillTx/>
                <a:latin typeface="Avenir Next"/>
                <a:ea typeface="Avenir Next"/>
              </a:rPr>
              <a:t>01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3" name=""/>
          <p:cNvSpPr/>
          <p:nvPr/>
        </p:nvSpPr>
        <p:spPr>
          <a:xfrm>
            <a:off x="1600200" y="2438280"/>
            <a:ext cx="7238520" cy="14040"/>
          </a:xfrm>
          <a:prstGeom prst="rect">
            <a:avLst/>
          </a:prstGeom>
          <a:solidFill>
            <a:srgbClr val="D2D2D7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30600" rIns="90000" bIns="-30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"/>
          <p:cNvSpPr/>
          <p:nvPr/>
        </p:nvSpPr>
        <p:spPr>
          <a:xfrm>
            <a:off x="1790640" y="2590920"/>
            <a:ext cx="1714320" cy="1900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111111"/>
                </a:solidFill>
                <a:effectLst/>
                <a:uFillTx/>
                <a:latin typeface="Avenir Next"/>
                <a:ea typeface="Avenir Next"/>
              </a:rPr>
              <a:t>mHSPC default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5" name=""/>
          <p:cNvSpPr/>
          <p:nvPr/>
        </p:nvSpPr>
        <p:spPr>
          <a:xfrm>
            <a:off x="3714840" y="2571840"/>
            <a:ext cx="4762080" cy="2473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11111"/>
                </a:solidFill>
                <a:effectLst/>
                <a:uFillTx/>
                <a:latin typeface="Avenir Next"/>
                <a:ea typeface="Avenir Next"/>
              </a:rPr>
              <a:t>Discuss ADT + ARPI early for eligible de novo metastatic patients.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6" name=""/>
          <p:cNvSpPr/>
          <p:nvPr/>
        </p:nvSpPr>
        <p:spPr>
          <a:xfrm>
            <a:off x="952560" y="3029040"/>
            <a:ext cx="495000" cy="3236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9F0A"/>
                </a:solidFill>
                <a:effectLst/>
                <a:uFillTx/>
                <a:latin typeface="Avenir Next"/>
                <a:ea typeface="Avenir Next"/>
              </a:rPr>
              <a:t>02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7" name=""/>
          <p:cNvSpPr/>
          <p:nvPr/>
        </p:nvSpPr>
        <p:spPr>
          <a:xfrm>
            <a:off x="1600200" y="3124080"/>
            <a:ext cx="7238520" cy="14040"/>
          </a:xfrm>
          <a:prstGeom prst="rect">
            <a:avLst/>
          </a:prstGeom>
          <a:solidFill>
            <a:srgbClr val="D2D2D7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30600" rIns="90000" bIns="-30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"/>
          <p:cNvSpPr/>
          <p:nvPr/>
        </p:nvSpPr>
        <p:spPr>
          <a:xfrm>
            <a:off x="1790640" y="3276720"/>
            <a:ext cx="1714320" cy="1900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111111"/>
                </a:solidFill>
                <a:effectLst/>
                <a:uFillTx/>
                <a:latin typeface="Avenir Next"/>
                <a:ea typeface="Avenir Next"/>
              </a:rPr>
              <a:t>Triplet gate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9" name=""/>
          <p:cNvSpPr/>
          <p:nvPr/>
        </p:nvSpPr>
        <p:spPr>
          <a:xfrm>
            <a:off x="3714840" y="3257640"/>
            <a:ext cx="4762080" cy="2473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11111"/>
                </a:solidFill>
                <a:effectLst/>
                <a:uFillTx/>
                <a:latin typeface="Avenir Next"/>
                <a:ea typeface="Avenir Next"/>
              </a:rPr>
              <a:t>Document volume, symptoms, fitness, chemo eligibility, and patient preference.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0" name=""/>
          <p:cNvSpPr/>
          <p:nvPr/>
        </p:nvSpPr>
        <p:spPr>
          <a:xfrm>
            <a:off x="952560" y="3714840"/>
            <a:ext cx="495000" cy="3236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AF52DE"/>
                </a:solidFill>
                <a:effectLst/>
                <a:uFillTx/>
                <a:latin typeface="Avenir Next"/>
                <a:ea typeface="Avenir Next"/>
              </a:rPr>
              <a:t>03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1" name=""/>
          <p:cNvSpPr/>
          <p:nvPr/>
        </p:nvSpPr>
        <p:spPr>
          <a:xfrm>
            <a:off x="1600200" y="3809880"/>
            <a:ext cx="7238520" cy="14040"/>
          </a:xfrm>
          <a:prstGeom prst="rect">
            <a:avLst/>
          </a:prstGeom>
          <a:solidFill>
            <a:srgbClr val="D2D2D7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30600" rIns="90000" bIns="-30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"/>
          <p:cNvSpPr/>
          <p:nvPr/>
        </p:nvSpPr>
        <p:spPr>
          <a:xfrm>
            <a:off x="1790640" y="3962520"/>
            <a:ext cx="1714320" cy="1900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111111"/>
                </a:solidFill>
                <a:effectLst/>
                <a:uFillTx/>
                <a:latin typeface="Avenir Next"/>
                <a:ea typeface="Avenir Next"/>
              </a:rPr>
              <a:t>PSMA/RLT rule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3" name=""/>
          <p:cNvSpPr/>
          <p:nvPr/>
        </p:nvSpPr>
        <p:spPr>
          <a:xfrm>
            <a:off x="3714840" y="3943440"/>
            <a:ext cx="4762080" cy="2473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11111"/>
                </a:solidFill>
                <a:effectLst/>
                <a:uFillTx/>
                <a:latin typeface="Avenir Next"/>
                <a:ea typeface="Avenir Next"/>
              </a:rPr>
              <a:t>Predefine how progression will be called after Lu-177 PSMA exposure.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4" name=""/>
          <p:cNvSpPr/>
          <p:nvPr/>
        </p:nvSpPr>
        <p:spPr>
          <a:xfrm>
            <a:off x="952560" y="4400640"/>
            <a:ext cx="495000" cy="3236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34C759"/>
                </a:solidFill>
                <a:effectLst/>
                <a:uFillTx/>
                <a:latin typeface="Avenir Next"/>
                <a:ea typeface="Avenir Next"/>
              </a:rPr>
              <a:t>04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5" name=""/>
          <p:cNvSpPr/>
          <p:nvPr/>
        </p:nvSpPr>
        <p:spPr>
          <a:xfrm>
            <a:off x="1600200" y="4495680"/>
            <a:ext cx="7238520" cy="14040"/>
          </a:xfrm>
          <a:prstGeom prst="rect">
            <a:avLst/>
          </a:prstGeom>
          <a:solidFill>
            <a:srgbClr val="D2D2D7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30600" rIns="90000" bIns="-30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"/>
          <p:cNvSpPr/>
          <p:nvPr/>
        </p:nvSpPr>
        <p:spPr>
          <a:xfrm>
            <a:off x="1790640" y="4648320"/>
            <a:ext cx="1714320" cy="1900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111111"/>
                </a:solidFill>
                <a:effectLst/>
                <a:uFillTx/>
                <a:latin typeface="Avenir Next"/>
                <a:ea typeface="Avenir Next"/>
              </a:rPr>
              <a:t>Variant read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7" name=""/>
          <p:cNvSpPr/>
          <p:nvPr/>
        </p:nvSpPr>
        <p:spPr>
          <a:xfrm>
            <a:off x="3714840" y="4629240"/>
            <a:ext cx="4762080" cy="2473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11111"/>
                </a:solidFill>
                <a:effectLst/>
                <a:uFillTx/>
                <a:latin typeface="Avenir Next"/>
                <a:ea typeface="Avenir Next"/>
              </a:rPr>
              <a:t>Capture germline, somatic, specimen, pathogenicity, and zygosity/loss.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8" name=""/>
          <p:cNvSpPr/>
          <p:nvPr/>
        </p:nvSpPr>
        <p:spPr>
          <a:xfrm>
            <a:off x="952560" y="5086440"/>
            <a:ext cx="495000" cy="3236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3B30"/>
                </a:solidFill>
                <a:effectLst/>
                <a:uFillTx/>
                <a:latin typeface="Avenir Next"/>
                <a:ea typeface="Avenir Next"/>
              </a:rPr>
              <a:t>05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9" name=""/>
          <p:cNvSpPr/>
          <p:nvPr/>
        </p:nvSpPr>
        <p:spPr>
          <a:xfrm>
            <a:off x="1600200" y="5181480"/>
            <a:ext cx="7238520" cy="14040"/>
          </a:xfrm>
          <a:prstGeom prst="rect">
            <a:avLst/>
          </a:prstGeom>
          <a:solidFill>
            <a:srgbClr val="D2D2D7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30600" rIns="90000" bIns="-30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"/>
          <p:cNvSpPr/>
          <p:nvPr/>
        </p:nvSpPr>
        <p:spPr>
          <a:xfrm>
            <a:off x="1790640" y="5334120"/>
            <a:ext cx="1714320" cy="1900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111111"/>
                </a:solidFill>
                <a:effectLst/>
                <a:uFillTx/>
                <a:latin typeface="Avenir Next"/>
                <a:ea typeface="Avenir Next"/>
              </a:rPr>
              <a:t>Toxicity clinic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1" name=""/>
          <p:cNvSpPr/>
          <p:nvPr/>
        </p:nvSpPr>
        <p:spPr>
          <a:xfrm>
            <a:off x="3714840" y="5315040"/>
            <a:ext cx="4762080" cy="2473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11111"/>
                </a:solidFill>
                <a:effectLst/>
                <a:uFillTx/>
                <a:latin typeface="Avenir Next"/>
                <a:ea typeface="Avenir Next"/>
              </a:rPr>
              <a:t>Build ADT/RLT supportive care into the pathway, not the rescue visit.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2" name=""/>
          <p:cNvSpPr/>
          <p:nvPr/>
        </p:nvSpPr>
        <p:spPr>
          <a:xfrm>
            <a:off x="8810640" y="2552760"/>
            <a:ext cx="2095200" cy="2381040"/>
          </a:xfrm>
          <a:prstGeom prst="rect">
            <a:avLst/>
          </a:prstGeom>
          <a:solidFill>
            <a:srgbClr val="EEF2F8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"/>
          <p:cNvSpPr/>
          <p:nvPr/>
        </p:nvSpPr>
        <p:spPr>
          <a:xfrm>
            <a:off x="8763120" y="2495520"/>
            <a:ext cx="2095200" cy="2381040"/>
          </a:xfrm>
          <a:prstGeom prst="rect">
            <a:avLst/>
          </a:prstGeom>
          <a:solidFill>
            <a:srgbClr val="DCEBFF"/>
          </a:solidFill>
          <a:ln w="9525">
            <a:solidFill>
              <a:srgbClr val="D2D2D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"/>
          <p:cNvSpPr/>
          <p:nvPr/>
        </p:nvSpPr>
        <p:spPr>
          <a:xfrm>
            <a:off x="8934480" y="2647800"/>
            <a:ext cx="1752120" cy="1519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0071E3"/>
                </a:solidFill>
                <a:effectLst/>
                <a:uFillTx/>
                <a:latin typeface="Avenir Next"/>
                <a:ea typeface="Avenir Next"/>
              </a:rPr>
              <a:t>BOTTOM LINE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5" name=""/>
          <p:cNvSpPr/>
          <p:nvPr/>
        </p:nvSpPr>
        <p:spPr>
          <a:xfrm>
            <a:off x="8934480" y="2895480"/>
            <a:ext cx="1752120" cy="18666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111111"/>
                </a:solidFill>
                <a:effectLst/>
                <a:uFillTx/>
                <a:latin typeface="Avenir Next"/>
                <a:ea typeface="Avenir Next"/>
              </a:rPr>
              <a:t>AUA 2026 is a prompt to redesign the advanced prostate cancer clinic around evidence selection, source documentation, and toxicity capacity.</a:t>
            </a:r>
            <a:endParaRPr lang="en-US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6" name=""/>
          <p:cNvSpPr/>
          <p:nvPr/>
        </p:nvSpPr>
        <p:spPr>
          <a:xfrm>
            <a:off x="685800" y="6477120"/>
            <a:ext cx="8953200" cy="171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10" b="0" u="none" strike="noStrike">
                <a:solidFill>
                  <a:srgbClr val="6E6E73"/>
                </a:solidFill>
                <a:effectLst/>
                <a:uFillTx/>
                <a:latin typeface="Avenir Next"/>
                <a:ea typeface="Avenir Next"/>
              </a:rPr>
              <a:t>Synthesis from AUA/SUO amendment, 040IC objectives, and selected AUA 2026 posters.</a:t>
            </a:r>
            <a:endParaRPr lang="en-US" sz="7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7" name=""/>
          <p:cNvSpPr/>
          <p:nvPr/>
        </p:nvSpPr>
        <p:spPr>
          <a:xfrm>
            <a:off x="11049120" y="6419880"/>
            <a:ext cx="456840" cy="2282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6E6E73"/>
                </a:solidFill>
                <a:effectLst/>
                <a:uFillTx/>
                <a:latin typeface="Avenir Next"/>
                <a:ea typeface="Avenir Next"/>
              </a:rPr>
              <a:t>10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BFBFD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"/>
          <p:cNvSpPr/>
          <p:nvPr/>
        </p:nvSpPr>
        <p:spPr>
          <a:xfrm>
            <a:off x="0" y="0"/>
            <a:ext cx="12191760" cy="56880"/>
          </a:xfrm>
          <a:prstGeom prst="rect">
            <a:avLst/>
          </a:prstGeom>
          <a:solidFill>
            <a:srgbClr val="0071E3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12240" rIns="90000" bIns="122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0" name=""/>
          <p:cNvSpPr/>
          <p:nvPr/>
        </p:nvSpPr>
        <p:spPr>
          <a:xfrm>
            <a:off x="685800" y="476280"/>
            <a:ext cx="85320" cy="85320"/>
          </a:xfrm>
          <a:prstGeom prst="ellipse">
            <a:avLst/>
          </a:prstGeom>
          <a:solidFill>
            <a:srgbClr val="0071E3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15840" rIns="90000" bIns="158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1" name=""/>
          <p:cNvSpPr/>
          <p:nvPr/>
        </p:nvSpPr>
        <p:spPr>
          <a:xfrm>
            <a:off x="857160" y="438120"/>
            <a:ext cx="3428640" cy="1900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6E6E73"/>
                </a:solidFill>
                <a:effectLst/>
                <a:uFillTx/>
                <a:latin typeface="Avenir Next"/>
                <a:ea typeface="Avenir Next"/>
              </a:rPr>
              <a:t>ABSTRACT DIGEST</a:t>
            </a:r>
            <a:endParaRPr lang="en-US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2" name=""/>
          <p:cNvSpPr/>
          <p:nvPr/>
        </p:nvSpPr>
        <p:spPr>
          <a:xfrm>
            <a:off x="685800" y="800280"/>
            <a:ext cx="8096040" cy="8758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30" b="1" u="none" strike="noStrike">
                <a:solidFill>
                  <a:srgbClr val="111111"/>
                </a:solidFill>
                <a:effectLst/>
                <a:uFillTx/>
                <a:latin typeface="Avenir Next"/>
                <a:ea typeface="Avenir Next"/>
              </a:rPr>
              <a:t>IP38-12 is the backbone abstract for the narrative.</a:t>
            </a:r>
            <a:endParaRPr lang="en-US" sz="29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3" name=""/>
          <p:cNvSpPr/>
          <p:nvPr/>
        </p:nvSpPr>
        <p:spPr>
          <a:xfrm>
            <a:off x="685800" y="1714680"/>
            <a:ext cx="8000640" cy="4568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6E6E73"/>
                </a:solidFill>
                <a:effectLst/>
                <a:uFillTx/>
                <a:latin typeface="Avenir Next"/>
                <a:ea typeface="Avenir Next"/>
              </a:rPr>
              <a:t>Use this when someone asks why the deck says intensification is now routine practice.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4" name=""/>
          <p:cNvSpPr/>
          <p:nvPr/>
        </p:nvSpPr>
        <p:spPr>
          <a:xfrm>
            <a:off x="847800" y="2324160"/>
            <a:ext cx="9772200" cy="3238200"/>
          </a:xfrm>
          <a:prstGeom prst="rect">
            <a:avLst/>
          </a:prstGeom>
          <a:solidFill>
            <a:srgbClr val="EEF2F8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"/>
          <p:cNvSpPr/>
          <p:nvPr/>
        </p:nvSpPr>
        <p:spPr>
          <a:xfrm>
            <a:off x="800280" y="2266920"/>
            <a:ext cx="9772200" cy="3238200"/>
          </a:xfrm>
          <a:prstGeom prst="rect">
            <a:avLst/>
          </a:prstGeom>
          <a:solidFill>
            <a:srgbClr val="FFFFFF"/>
          </a:solidFill>
          <a:ln w="9525">
            <a:solidFill>
              <a:srgbClr val="D2D2D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"/>
          <p:cNvSpPr/>
          <p:nvPr/>
        </p:nvSpPr>
        <p:spPr>
          <a:xfrm>
            <a:off x="1104840" y="2571840"/>
            <a:ext cx="952200" cy="209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1" u="none" strike="noStrike">
                <a:solidFill>
                  <a:srgbClr val="0071E3"/>
                </a:solidFill>
                <a:effectLst/>
                <a:uFillTx/>
                <a:latin typeface="Avenir Next"/>
                <a:ea typeface="Avenir Next"/>
              </a:rPr>
              <a:t>IP38-12</a:t>
            </a:r>
            <a:endParaRPr lang="en-US" sz="1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7" name=""/>
          <p:cNvSpPr/>
          <p:nvPr/>
        </p:nvSpPr>
        <p:spPr>
          <a:xfrm>
            <a:off x="2095560" y="2571840"/>
            <a:ext cx="7714800" cy="4568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80" b="1" u="none" strike="noStrike">
                <a:solidFill>
                  <a:srgbClr val="111111"/>
                </a:solidFill>
                <a:effectLst/>
                <a:uFillTx/>
                <a:latin typeface="Avenir Next"/>
                <a:ea typeface="Avenir Next"/>
              </a:rPr>
              <a:t>Uptake of doublet and triplet therapy for men with de novo metastatic castration-sensitive prostate cancer. Population-based study</a:t>
            </a:r>
            <a:endParaRPr lang="en-US" sz="15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8" name=""/>
          <p:cNvSpPr/>
          <p:nvPr/>
        </p:nvSpPr>
        <p:spPr>
          <a:xfrm>
            <a:off x="1181160" y="3257640"/>
            <a:ext cx="1161720" cy="2282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6E6E73"/>
                </a:solidFill>
                <a:effectLst/>
                <a:uFillTx/>
                <a:latin typeface="Avenir Next"/>
                <a:ea typeface="Avenir Next"/>
              </a:rPr>
              <a:t>Question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9" name=""/>
          <p:cNvSpPr/>
          <p:nvPr/>
        </p:nvSpPr>
        <p:spPr>
          <a:xfrm>
            <a:off x="2476440" y="3257640"/>
            <a:ext cx="7238520" cy="2854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111111"/>
                </a:solidFill>
                <a:effectLst/>
                <a:uFillTx/>
                <a:latin typeface="Avenir Next"/>
                <a:ea typeface="Avenir Next"/>
              </a:rPr>
              <a:t>How much did upfront doublet/triplet treatment enter routine care, and did survival move in parallel?</a:t>
            </a:r>
            <a:endParaRPr lang="en-US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0" name=""/>
          <p:cNvSpPr/>
          <p:nvPr/>
        </p:nvSpPr>
        <p:spPr>
          <a:xfrm>
            <a:off x="1181160" y="3753000"/>
            <a:ext cx="1161720" cy="2282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6E6E73"/>
                </a:solidFill>
                <a:effectLst/>
                <a:uFillTx/>
                <a:latin typeface="Avenir Next"/>
                <a:ea typeface="Avenir Next"/>
              </a:rPr>
              <a:t>Population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1" name=""/>
          <p:cNvSpPr/>
          <p:nvPr/>
        </p:nvSpPr>
        <p:spPr>
          <a:xfrm>
            <a:off x="2476440" y="3753000"/>
            <a:ext cx="7238520" cy="2854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111111"/>
                </a:solidFill>
                <a:effectLst/>
                <a:uFillTx/>
                <a:latin typeface="Avenir Next"/>
                <a:ea typeface="Avenir Next"/>
              </a:rPr>
              <a:t>9,294 men with de novo mCSPC in Sweden's NPCR, 2016-2024.</a:t>
            </a:r>
            <a:endParaRPr lang="en-US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2" name=""/>
          <p:cNvSpPr/>
          <p:nvPr/>
        </p:nvSpPr>
        <p:spPr>
          <a:xfrm>
            <a:off x="1181160" y="4248000"/>
            <a:ext cx="1161720" cy="2282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6E6E73"/>
                </a:solidFill>
                <a:effectLst/>
                <a:uFillTx/>
                <a:latin typeface="Avenir Next"/>
                <a:ea typeface="Avenir Next"/>
              </a:rPr>
              <a:t>Key result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3" name=""/>
          <p:cNvSpPr/>
          <p:nvPr/>
        </p:nvSpPr>
        <p:spPr>
          <a:xfrm>
            <a:off x="2476440" y="4248000"/>
            <a:ext cx="7238520" cy="2854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111111"/>
                </a:solidFill>
                <a:effectLst/>
                <a:uFillTx/>
                <a:latin typeface="Avenir Next"/>
                <a:ea typeface="Avenir Next"/>
              </a:rPr>
              <a:t>Doublet uptake 19% -&gt; 66%; triplet 4% -&gt; 17%; 3-year OS 51% -&gt; 61%; among age &lt;65, 69% -&gt; 77%.</a:t>
            </a:r>
            <a:endParaRPr lang="en-US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4" name=""/>
          <p:cNvSpPr/>
          <p:nvPr/>
        </p:nvSpPr>
        <p:spPr>
          <a:xfrm>
            <a:off x="1181160" y="4743360"/>
            <a:ext cx="1161720" cy="2282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6E6E73"/>
                </a:solidFill>
                <a:effectLst/>
                <a:uFillTx/>
                <a:latin typeface="Avenir Next"/>
                <a:ea typeface="Avenir Next"/>
              </a:rPr>
              <a:t>Take-home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5" name=""/>
          <p:cNvSpPr/>
          <p:nvPr/>
        </p:nvSpPr>
        <p:spPr>
          <a:xfrm>
            <a:off x="2476440" y="4743360"/>
            <a:ext cx="7238520" cy="2854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111111"/>
                </a:solidFill>
                <a:effectLst/>
                <a:uFillTx/>
                <a:latin typeface="Avenir Next"/>
                <a:ea typeface="Avenir Next"/>
              </a:rPr>
              <a:t>Real-world treatment intensity increased, supporting early intensification while leaving patient selection unresolved.</a:t>
            </a:r>
            <a:endParaRPr lang="en-US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6" name=""/>
          <p:cNvSpPr/>
          <p:nvPr/>
        </p:nvSpPr>
        <p:spPr>
          <a:xfrm>
            <a:off x="685800" y="6477120"/>
            <a:ext cx="8953200" cy="171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10" b="0" u="none" strike="noStrike">
                <a:solidFill>
                  <a:srgbClr val="6E6E73"/>
                </a:solidFill>
                <a:effectLst/>
                <a:uFillTx/>
                <a:latin typeface="Avenir Next"/>
                <a:ea typeface="Avenir Next"/>
              </a:rPr>
              <a:t>Source: IP38-12 poster PDF and local fulltext extraction. This slide paraphrases the abstract instead of reproducing it verbatim.</a:t>
            </a:r>
            <a:endParaRPr lang="en-US" sz="7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7" name=""/>
          <p:cNvSpPr/>
          <p:nvPr/>
        </p:nvSpPr>
        <p:spPr>
          <a:xfrm>
            <a:off x="11049120" y="6419880"/>
            <a:ext cx="456840" cy="2282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6E6E73"/>
                </a:solidFill>
                <a:effectLst/>
                <a:uFillTx/>
                <a:latin typeface="Avenir Next"/>
                <a:ea typeface="Avenir Next"/>
              </a:rPr>
              <a:t>11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BFBFD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"/>
          <p:cNvSpPr/>
          <p:nvPr/>
        </p:nvSpPr>
        <p:spPr>
          <a:xfrm>
            <a:off x="0" y="0"/>
            <a:ext cx="12191760" cy="56880"/>
          </a:xfrm>
          <a:prstGeom prst="rect">
            <a:avLst/>
          </a:prstGeom>
          <a:solidFill>
            <a:srgbClr val="0071E3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12240" rIns="90000" bIns="122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0" name=""/>
          <p:cNvSpPr/>
          <p:nvPr/>
        </p:nvSpPr>
        <p:spPr>
          <a:xfrm>
            <a:off x="685800" y="476280"/>
            <a:ext cx="85320" cy="85320"/>
          </a:xfrm>
          <a:prstGeom prst="ellipse">
            <a:avLst/>
          </a:prstGeom>
          <a:solidFill>
            <a:srgbClr val="0071E3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15840" rIns="90000" bIns="158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1" name=""/>
          <p:cNvSpPr/>
          <p:nvPr/>
        </p:nvSpPr>
        <p:spPr>
          <a:xfrm>
            <a:off x="857160" y="438120"/>
            <a:ext cx="3428640" cy="1900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6E6E73"/>
                </a:solidFill>
                <a:effectLst/>
                <a:uFillTx/>
                <a:latin typeface="Avenir Next"/>
                <a:ea typeface="Avenir Next"/>
              </a:rPr>
              <a:t>ABSTRACT DIGEST</a:t>
            </a:r>
            <a:endParaRPr lang="en-US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2" name=""/>
          <p:cNvSpPr/>
          <p:nvPr/>
        </p:nvSpPr>
        <p:spPr>
          <a:xfrm>
            <a:off x="685800" y="800280"/>
            <a:ext cx="8096040" cy="8758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30" b="1" u="none" strike="noStrike">
                <a:solidFill>
                  <a:srgbClr val="111111"/>
                </a:solidFill>
                <a:effectLst/>
                <a:uFillTx/>
                <a:latin typeface="Avenir Next"/>
                <a:ea typeface="Avenir Next"/>
              </a:rPr>
              <a:t>The supporting abstracts make the workflow argument.</a:t>
            </a:r>
            <a:endParaRPr lang="en-US" sz="29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3" name=""/>
          <p:cNvSpPr/>
          <p:nvPr/>
        </p:nvSpPr>
        <p:spPr>
          <a:xfrm>
            <a:off x="685800" y="1714680"/>
            <a:ext cx="8191080" cy="4568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6E6E73"/>
                </a:solidFill>
                <a:effectLst/>
                <a:uFillTx/>
                <a:latin typeface="Avenir Next"/>
                <a:ea typeface="Avenir Next"/>
              </a:rPr>
              <a:t>These are the source-level pieces that turn a drug update into a clinic-model update.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4" name=""/>
          <p:cNvSpPr/>
          <p:nvPr/>
        </p:nvSpPr>
        <p:spPr>
          <a:xfrm>
            <a:off x="838080" y="2457360"/>
            <a:ext cx="837720" cy="418680"/>
          </a:xfrm>
          <a:prstGeom prst="rect">
            <a:avLst/>
          </a:prstGeom>
          <a:solidFill>
            <a:srgbClr val="DCEBFF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"/>
          <p:cNvSpPr/>
          <p:nvPr/>
        </p:nvSpPr>
        <p:spPr>
          <a:xfrm>
            <a:off x="933480" y="2581200"/>
            <a:ext cx="647280" cy="171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1" u="none" strike="noStrike">
                <a:solidFill>
                  <a:srgbClr val="0071E3"/>
                </a:solidFill>
                <a:effectLst/>
                <a:uFillTx/>
                <a:latin typeface="Avenir Next"/>
                <a:ea typeface="Avenir Next"/>
              </a:rPr>
              <a:t>IP38-13</a:t>
            </a:r>
            <a:endParaRPr lang="en-US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6" name=""/>
          <p:cNvSpPr/>
          <p:nvPr/>
        </p:nvSpPr>
        <p:spPr>
          <a:xfrm>
            <a:off x="1943280" y="2457360"/>
            <a:ext cx="3085920" cy="209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11111"/>
                </a:solidFill>
                <a:effectLst/>
                <a:uFillTx/>
                <a:latin typeface="Avenir Next"/>
                <a:ea typeface="Avenir Next"/>
              </a:rPr>
              <a:t>Triplet selection signal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7" name=""/>
          <p:cNvSpPr/>
          <p:nvPr/>
        </p:nvSpPr>
        <p:spPr>
          <a:xfrm>
            <a:off x="1943280" y="2724120"/>
            <a:ext cx="7905240" cy="3614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70" b="0" u="none" strike="noStrike">
                <a:solidFill>
                  <a:srgbClr val="111111"/>
                </a:solidFill>
                <a:effectLst/>
                <a:uFillTx/>
                <a:latin typeface="Avenir Next"/>
                <a:ea typeface="Avenir Next"/>
              </a:rPr>
              <a:t>Overall OS advantage was unclear; high-volume patients had higher probability of benefit, but clinically meaningful benefit remained modest.</a:t>
            </a:r>
            <a:endParaRPr lang="en-US" sz="11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8" name=""/>
          <p:cNvSpPr/>
          <p:nvPr/>
        </p:nvSpPr>
        <p:spPr>
          <a:xfrm>
            <a:off x="1943280" y="3124080"/>
            <a:ext cx="8191080" cy="9000"/>
          </a:xfrm>
          <a:prstGeom prst="rect">
            <a:avLst/>
          </a:prstGeom>
          <a:solidFill>
            <a:srgbClr val="D2D2D7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"/>
          <p:cNvSpPr/>
          <p:nvPr/>
        </p:nvSpPr>
        <p:spPr>
          <a:xfrm>
            <a:off x="838080" y="3181320"/>
            <a:ext cx="837720" cy="418680"/>
          </a:xfrm>
          <a:prstGeom prst="rect">
            <a:avLst/>
          </a:prstGeom>
          <a:solidFill>
            <a:srgbClr val="FFF3DD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"/>
          <p:cNvSpPr/>
          <p:nvPr/>
        </p:nvSpPr>
        <p:spPr>
          <a:xfrm>
            <a:off x="933480" y="3305160"/>
            <a:ext cx="647280" cy="171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1" u="none" strike="noStrike">
                <a:solidFill>
                  <a:srgbClr val="FF9F0A"/>
                </a:solidFill>
                <a:effectLst/>
                <a:uFillTx/>
                <a:latin typeface="Avenir Next"/>
                <a:ea typeface="Avenir Next"/>
              </a:rPr>
              <a:t>IP73-14</a:t>
            </a:r>
            <a:endParaRPr lang="en-US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1" name=""/>
          <p:cNvSpPr/>
          <p:nvPr/>
        </p:nvSpPr>
        <p:spPr>
          <a:xfrm>
            <a:off x="1943280" y="3181320"/>
            <a:ext cx="3085920" cy="209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11111"/>
                </a:solidFill>
                <a:effectLst/>
                <a:uFillTx/>
                <a:latin typeface="Avenir Next"/>
                <a:ea typeface="Avenir Next"/>
              </a:rPr>
              <a:t>Implementation variation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2" name=""/>
          <p:cNvSpPr/>
          <p:nvPr/>
        </p:nvSpPr>
        <p:spPr>
          <a:xfrm>
            <a:off x="1943280" y="3448080"/>
            <a:ext cx="7905240" cy="3614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70" b="0" u="none" strike="noStrike">
                <a:solidFill>
                  <a:srgbClr val="111111"/>
                </a:solidFill>
                <a:effectLst/>
                <a:uFillTx/>
                <a:latin typeface="Avenir Next"/>
                <a:ea typeface="Avenir Next"/>
              </a:rPr>
              <a:t>Only 26.5% of older Ontario mHSPC patients received intensification; uptake rose to 59% by 2022, showing pathway improvement but not uniform delivery.</a:t>
            </a:r>
            <a:endParaRPr lang="en-US" sz="11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3" name=""/>
          <p:cNvSpPr/>
          <p:nvPr/>
        </p:nvSpPr>
        <p:spPr>
          <a:xfrm>
            <a:off x="1943280" y="3848040"/>
            <a:ext cx="8191080" cy="9000"/>
          </a:xfrm>
          <a:prstGeom prst="rect">
            <a:avLst/>
          </a:prstGeom>
          <a:solidFill>
            <a:srgbClr val="D2D2D7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"/>
          <p:cNvSpPr/>
          <p:nvPr/>
        </p:nvSpPr>
        <p:spPr>
          <a:xfrm>
            <a:off x="838080" y="3905280"/>
            <a:ext cx="837720" cy="418680"/>
          </a:xfrm>
          <a:prstGeom prst="rect">
            <a:avLst/>
          </a:prstGeom>
          <a:solidFill>
            <a:srgbClr val="F4E7FB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"/>
          <p:cNvSpPr/>
          <p:nvPr/>
        </p:nvSpPr>
        <p:spPr>
          <a:xfrm>
            <a:off x="933480" y="4029120"/>
            <a:ext cx="647280" cy="171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1" u="none" strike="noStrike">
                <a:solidFill>
                  <a:srgbClr val="AF52DE"/>
                </a:solidFill>
                <a:effectLst/>
                <a:uFillTx/>
                <a:latin typeface="Avenir Next"/>
                <a:ea typeface="Avenir Next"/>
              </a:rPr>
              <a:t>IP73-16</a:t>
            </a:r>
            <a:endParaRPr lang="en-US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6" name=""/>
          <p:cNvSpPr/>
          <p:nvPr/>
        </p:nvSpPr>
        <p:spPr>
          <a:xfrm>
            <a:off x="1943280" y="3905280"/>
            <a:ext cx="3085920" cy="209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11111"/>
                </a:solidFill>
                <a:effectLst/>
                <a:uFillTx/>
                <a:latin typeface="Avenir Next"/>
                <a:ea typeface="Avenir Next"/>
              </a:rPr>
              <a:t>Post-Lu-177 PSMA imaging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7" name=""/>
          <p:cNvSpPr/>
          <p:nvPr/>
        </p:nvSpPr>
        <p:spPr>
          <a:xfrm>
            <a:off x="1943280" y="4172040"/>
            <a:ext cx="7905240" cy="3614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70" b="0" u="none" strike="noStrike">
                <a:solidFill>
                  <a:srgbClr val="111111"/>
                </a:solidFill>
                <a:effectLst/>
                <a:uFillTx/>
                <a:latin typeface="Avenir Next"/>
                <a:ea typeface="Avenir Next"/>
              </a:rPr>
              <a:t>11C-Choline detected progression more frequently and at lower PSA than PSMA PET/CT in a retrospective post-RLT registry.</a:t>
            </a:r>
            <a:endParaRPr lang="en-US" sz="11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8" name=""/>
          <p:cNvSpPr/>
          <p:nvPr/>
        </p:nvSpPr>
        <p:spPr>
          <a:xfrm>
            <a:off x="1943280" y="4572000"/>
            <a:ext cx="8191080" cy="9000"/>
          </a:xfrm>
          <a:prstGeom prst="rect">
            <a:avLst/>
          </a:prstGeom>
          <a:solidFill>
            <a:srgbClr val="D2D2D7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"/>
          <p:cNvSpPr/>
          <p:nvPr/>
        </p:nvSpPr>
        <p:spPr>
          <a:xfrm>
            <a:off x="838080" y="4629240"/>
            <a:ext cx="837720" cy="418680"/>
          </a:xfrm>
          <a:prstGeom prst="rect">
            <a:avLst/>
          </a:prstGeom>
          <a:solidFill>
            <a:srgbClr val="F4E7FB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"/>
          <p:cNvSpPr/>
          <p:nvPr/>
        </p:nvSpPr>
        <p:spPr>
          <a:xfrm>
            <a:off x="933480" y="4753080"/>
            <a:ext cx="647280" cy="171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1" u="none" strike="noStrike">
                <a:solidFill>
                  <a:srgbClr val="AF52DE"/>
                </a:solidFill>
                <a:effectLst/>
                <a:uFillTx/>
                <a:latin typeface="Avenir Next"/>
                <a:ea typeface="Avenir Next"/>
              </a:rPr>
              <a:t>IP73-24</a:t>
            </a:r>
            <a:endParaRPr lang="en-US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1" name=""/>
          <p:cNvSpPr/>
          <p:nvPr/>
        </p:nvSpPr>
        <p:spPr>
          <a:xfrm>
            <a:off x="1943280" y="4629240"/>
            <a:ext cx="3085920" cy="209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11111"/>
                </a:solidFill>
                <a:effectLst/>
                <a:uFillTx/>
                <a:latin typeface="Avenir Next"/>
                <a:ea typeface="Avenir Next"/>
              </a:rPr>
              <a:t>Variant-level CGP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2" name=""/>
          <p:cNvSpPr/>
          <p:nvPr/>
        </p:nvSpPr>
        <p:spPr>
          <a:xfrm>
            <a:off x="1943280" y="4896000"/>
            <a:ext cx="7905240" cy="3614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70" b="0" u="none" strike="noStrike">
                <a:solidFill>
                  <a:srgbClr val="111111"/>
                </a:solidFill>
                <a:effectLst/>
                <a:uFillTx/>
                <a:latin typeface="Avenir Next"/>
                <a:ea typeface="Avenir Next"/>
              </a:rPr>
              <a:t>Variant-level BRCA interpretation provided prognostic and predictive information beyond binary BRCA status.</a:t>
            </a:r>
            <a:endParaRPr lang="en-US" sz="11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3" name=""/>
          <p:cNvSpPr/>
          <p:nvPr/>
        </p:nvSpPr>
        <p:spPr>
          <a:xfrm>
            <a:off x="1943280" y="5295960"/>
            <a:ext cx="8191080" cy="9000"/>
          </a:xfrm>
          <a:prstGeom prst="rect">
            <a:avLst/>
          </a:prstGeom>
          <a:solidFill>
            <a:srgbClr val="D2D2D7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"/>
          <p:cNvSpPr/>
          <p:nvPr/>
        </p:nvSpPr>
        <p:spPr>
          <a:xfrm>
            <a:off x="838080" y="5353200"/>
            <a:ext cx="837720" cy="418680"/>
          </a:xfrm>
          <a:prstGeom prst="rect">
            <a:avLst/>
          </a:prstGeom>
          <a:solidFill>
            <a:srgbClr val="E6F7EC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"/>
          <p:cNvSpPr/>
          <p:nvPr/>
        </p:nvSpPr>
        <p:spPr>
          <a:xfrm>
            <a:off x="933480" y="5477040"/>
            <a:ext cx="647280" cy="171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1" u="none" strike="noStrike">
                <a:solidFill>
                  <a:srgbClr val="34C759"/>
                </a:solidFill>
                <a:effectLst/>
                <a:uFillTx/>
                <a:latin typeface="Avenir Next"/>
                <a:ea typeface="Avenir Next"/>
              </a:rPr>
              <a:t>IP38-17</a:t>
            </a:r>
            <a:endParaRPr lang="en-US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6" name=""/>
          <p:cNvSpPr/>
          <p:nvPr/>
        </p:nvSpPr>
        <p:spPr>
          <a:xfrm>
            <a:off x="1943280" y="5353200"/>
            <a:ext cx="3085920" cy="209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11111"/>
                </a:solidFill>
                <a:effectLst/>
                <a:uFillTx/>
                <a:latin typeface="Avenir Next"/>
                <a:ea typeface="Avenir Next"/>
              </a:rPr>
              <a:t>PC360 ADT toxicity pathway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7" name=""/>
          <p:cNvSpPr/>
          <p:nvPr/>
        </p:nvSpPr>
        <p:spPr>
          <a:xfrm>
            <a:off x="1943280" y="5619600"/>
            <a:ext cx="7905240" cy="3614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70" b="0" u="none" strike="noStrike">
                <a:solidFill>
                  <a:srgbClr val="111111"/>
                </a:solidFill>
                <a:effectLst/>
                <a:uFillTx/>
                <a:latin typeface="Avenir Next"/>
                <a:ea typeface="Avenir Next"/>
              </a:rPr>
              <a:t>A multidisciplinary ADT care model enrolled 270 men and operationalized five domains of supportive care.</a:t>
            </a:r>
            <a:endParaRPr lang="en-US" sz="11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8" name=""/>
          <p:cNvSpPr/>
          <p:nvPr/>
        </p:nvSpPr>
        <p:spPr>
          <a:xfrm>
            <a:off x="1943280" y="6019920"/>
            <a:ext cx="8191080" cy="9000"/>
          </a:xfrm>
          <a:prstGeom prst="rect">
            <a:avLst/>
          </a:prstGeom>
          <a:solidFill>
            <a:srgbClr val="D2D2D7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"/>
          <p:cNvSpPr/>
          <p:nvPr/>
        </p:nvSpPr>
        <p:spPr>
          <a:xfrm>
            <a:off x="685800" y="6477120"/>
            <a:ext cx="8953200" cy="171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10" b="0" u="none" strike="noStrike">
                <a:solidFill>
                  <a:srgbClr val="6E6E73"/>
                </a:solidFill>
                <a:effectLst/>
                <a:uFillTx/>
                <a:latin typeface="Avenir Next"/>
                <a:ea typeface="Avenir Next"/>
              </a:rPr>
              <a:t>Sources: selected original poster PDFs and local fulltext extraction; text is paraphrased.</a:t>
            </a:r>
            <a:endParaRPr lang="en-US" sz="7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0" name=""/>
          <p:cNvSpPr/>
          <p:nvPr/>
        </p:nvSpPr>
        <p:spPr>
          <a:xfrm>
            <a:off x="11049120" y="6419880"/>
            <a:ext cx="456840" cy="2282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6E6E73"/>
                </a:solidFill>
                <a:effectLst/>
                <a:uFillTx/>
                <a:latin typeface="Avenir Next"/>
                <a:ea typeface="Avenir Next"/>
              </a:rPr>
              <a:t>12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BFBFD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"/>
          <p:cNvSpPr/>
          <p:nvPr/>
        </p:nvSpPr>
        <p:spPr>
          <a:xfrm>
            <a:off x="0" y="0"/>
            <a:ext cx="12191760" cy="56880"/>
          </a:xfrm>
          <a:prstGeom prst="rect">
            <a:avLst/>
          </a:prstGeom>
          <a:solidFill>
            <a:srgbClr val="0071E3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12240" rIns="90000" bIns="122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3" name=""/>
          <p:cNvSpPr/>
          <p:nvPr/>
        </p:nvSpPr>
        <p:spPr>
          <a:xfrm>
            <a:off x="552600" y="343080"/>
            <a:ext cx="85320" cy="85320"/>
          </a:xfrm>
          <a:prstGeom prst="ellipse">
            <a:avLst/>
          </a:prstGeom>
          <a:solidFill>
            <a:srgbClr val="FF9F0A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15840" rIns="90000" bIns="158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4" name=""/>
          <p:cNvSpPr/>
          <p:nvPr/>
        </p:nvSpPr>
        <p:spPr>
          <a:xfrm>
            <a:off x="723960" y="304920"/>
            <a:ext cx="3428640" cy="1900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6E6E73"/>
                </a:solidFill>
                <a:effectLst/>
                <a:uFillTx/>
                <a:latin typeface="Avenir Next"/>
                <a:ea typeface="Avenir Next"/>
              </a:rPr>
              <a:t>ORIGINAL POSTER APPENDIX</a:t>
            </a:r>
            <a:endParaRPr lang="en-US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5" name=""/>
          <p:cNvSpPr/>
          <p:nvPr/>
        </p:nvSpPr>
        <p:spPr>
          <a:xfrm>
            <a:off x="552600" y="590400"/>
            <a:ext cx="9429480" cy="2664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11111"/>
                </a:solidFill>
                <a:effectLst/>
                <a:uFillTx/>
                <a:latin typeface="Avenir Next"/>
                <a:ea typeface="Avenir Next"/>
              </a:rPr>
              <a:t>IP38-12: Uptake of doublet and triplet therapy in de novo mCSPC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6" name=""/>
          <p:cNvSpPr/>
          <p:nvPr/>
        </p:nvSpPr>
        <p:spPr>
          <a:xfrm>
            <a:off x="552600" y="990720"/>
            <a:ext cx="8572320" cy="1519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90" b="0" u="none" strike="noStrike">
                <a:solidFill>
                  <a:srgbClr val="6E6E73"/>
                </a:solidFill>
                <a:effectLst/>
                <a:uFillTx/>
                <a:latin typeface="Avenir Next"/>
                <a:ea typeface="Avenir Next"/>
              </a:rPr>
              <a:t>Rendered from the original local poster PDF; included as source appendix for internal presentation use.</a:t>
            </a:r>
            <a:endParaRPr lang="en-US" sz="79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7" name=""/>
          <p:cNvSpPr/>
          <p:nvPr/>
        </p:nvSpPr>
        <p:spPr>
          <a:xfrm>
            <a:off x="561960" y="1314360"/>
            <a:ext cx="11162880" cy="4876560"/>
          </a:xfrm>
          <a:prstGeom prst="rect">
            <a:avLst/>
          </a:prstGeom>
          <a:solidFill>
            <a:srgbClr val="EEF2F8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8" name=""/>
          <p:cNvSpPr/>
          <p:nvPr/>
        </p:nvSpPr>
        <p:spPr>
          <a:xfrm>
            <a:off x="514440" y="1257480"/>
            <a:ext cx="11162880" cy="4876560"/>
          </a:xfrm>
          <a:prstGeom prst="rect">
            <a:avLst/>
          </a:prstGeom>
          <a:solidFill>
            <a:srgbClr val="FFFFFF"/>
          </a:solidFill>
          <a:ln w="9525">
            <a:solidFill>
              <a:srgbClr val="D2D2D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09" name=""/>
          <p:cNvPicPr/>
          <p:nvPr/>
        </p:nvPicPr>
        <p:blipFill>
          <a:blip r:embed="rId1"/>
          <a:stretch/>
        </p:blipFill>
        <p:spPr>
          <a:xfrm>
            <a:off x="2610360" y="1333440"/>
            <a:ext cx="6971040" cy="4686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0" name=""/>
          <p:cNvSpPr/>
          <p:nvPr/>
        </p:nvSpPr>
        <p:spPr>
          <a:xfrm>
            <a:off x="685800" y="6477120"/>
            <a:ext cx="8953200" cy="171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10" b="0" u="none" strike="noStrike">
                <a:solidFill>
                  <a:srgbClr val="6E6E73"/>
                </a:solidFill>
                <a:effectLst/>
                <a:uFillTx/>
                <a:latin typeface="Avenir Next"/>
                <a:ea typeface="Avenir Next"/>
              </a:rPr>
              <a:t>Source: scraper/data/posters/IP38-12.pdf</a:t>
            </a:r>
            <a:endParaRPr lang="en-US" sz="7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1" name=""/>
          <p:cNvSpPr/>
          <p:nvPr/>
        </p:nvSpPr>
        <p:spPr>
          <a:xfrm>
            <a:off x="11049120" y="6419880"/>
            <a:ext cx="456840" cy="2282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6E6E73"/>
                </a:solidFill>
                <a:effectLst/>
                <a:uFillTx/>
                <a:latin typeface="Avenir Next"/>
                <a:ea typeface="Avenir Next"/>
              </a:rPr>
              <a:t>13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BFBFD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"/>
          <p:cNvSpPr/>
          <p:nvPr/>
        </p:nvSpPr>
        <p:spPr>
          <a:xfrm>
            <a:off x="0" y="0"/>
            <a:ext cx="12191760" cy="56880"/>
          </a:xfrm>
          <a:prstGeom prst="rect">
            <a:avLst/>
          </a:prstGeom>
          <a:solidFill>
            <a:srgbClr val="0071E3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12240" rIns="90000" bIns="122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4" name=""/>
          <p:cNvSpPr/>
          <p:nvPr/>
        </p:nvSpPr>
        <p:spPr>
          <a:xfrm>
            <a:off x="552600" y="343080"/>
            <a:ext cx="85320" cy="85320"/>
          </a:xfrm>
          <a:prstGeom prst="ellipse">
            <a:avLst/>
          </a:prstGeom>
          <a:solidFill>
            <a:srgbClr val="FF9F0A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15840" rIns="90000" bIns="158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5" name=""/>
          <p:cNvSpPr/>
          <p:nvPr/>
        </p:nvSpPr>
        <p:spPr>
          <a:xfrm>
            <a:off x="723960" y="304920"/>
            <a:ext cx="3428640" cy="1900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6E6E73"/>
                </a:solidFill>
                <a:effectLst/>
                <a:uFillTx/>
                <a:latin typeface="Avenir Next"/>
                <a:ea typeface="Avenir Next"/>
              </a:rPr>
              <a:t>ORIGINAL POSTER APPENDIX</a:t>
            </a:r>
            <a:endParaRPr lang="en-US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6" name=""/>
          <p:cNvSpPr/>
          <p:nvPr/>
        </p:nvSpPr>
        <p:spPr>
          <a:xfrm>
            <a:off x="552600" y="590400"/>
            <a:ext cx="9429480" cy="2664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11111"/>
                </a:solidFill>
                <a:effectLst/>
                <a:uFillTx/>
                <a:latin typeface="Avenir Next"/>
                <a:ea typeface="Avenir Next"/>
              </a:rPr>
              <a:t>IP38-13: Bayesian reanalysis of triplet vs doublet therapy in mHSPC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7" name=""/>
          <p:cNvSpPr/>
          <p:nvPr/>
        </p:nvSpPr>
        <p:spPr>
          <a:xfrm>
            <a:off x="552600" y="990720"/>
            <a:ext cx="8572320" cy="1519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90" b="0" u="none" strike="noStrike">
                <a:solidFill>
                  <a:srgbClr val="6E6E73"/>
                </a:solidFill>
                <a:effectLst/>
                <a:uFillTx/>
                <a:latin typeface="Avenir Next"/>
                <a:ea typeface="Avenir Next"/>
              </a:rPr>
              <a:t>Rendered from the original local poster PDF; included as source appendix for internal presentation use.</a:t>
            </a:r>
            <a:endParaRPr lang="en-US" sz="79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8" name=""/>
          <p:cNvSpPr/>
          <p:nvPr/>
        </p:nvSpPr>
        <p:spPr>
          <a:xfrm>
            <a:off x="561960" y="1314360"/>
            <a:ext cx="11162880" cy="4876560"/>
          </a:xfrm>
          <a:prstGeom prst="rect">
            <a:avLst/>
          </a:prstGeom>
          <a:solidFill>
            <a:srgbClr val="EEF2F8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9" name=""/>
          <p:cNvSpPr/>
          <p:nvPr/>
        </p:nvSpPr>
        <p:spPr>
          <a:xfrm>
            <a:off x="514440" y="1257480"/>
            <a:ext cx="11162880" cy="4876560"/>
          </a:xfrm>
          <a:prstGeom prst="rect">
            <a:avLst/>
          </a:prstGeom>
          <a:solidFill>
            <a:srgbClr val="FFFFFF"/>
          </a:solidFill>
          <a:ln w="9525">
            <a:solidFill>
              <a:srgbClr val="D2D2D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20" name=""/>
          <p:cNvPicPr/>
          <p:nvPr/>
        </p:nvPicPr>
        <p:blipFill>
          <a:blip r:embed="rId1"/>
          <a:stretch/>
        </p:blipFill>
        <p:spPr>
          <a:xfrm>
            <a:off x="2780280" y="1333440"/>
            <a:ext cx="6631200" cy="4686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1" name=""/>
          <p:cNvSpPr/>
          <p:nvPr/>
        </p:nvSpPr>
        <p:spPr>
          <a:xfrm>
            <a:off x="685800" y="6477120"/>
            <a:ext cx="8953200" cy="171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10" b="0" u="none" strike="noStrike">
                <a:solidFill>
                  <a:srgbClr val="6E6E73"/>
                </a:solidFill>
                <a:effectLst/>
                <a:uFillTx/>
                <a:latin typeface="Avenir Next"/>
                <a:ea typeface="Avenir Next"/>
              </a:rPr>
              <a:t>Source: scraper/data/posters/IP38-13.pdf</a:t>
            </a:r>
            <a:endParaRPr lang="en-US" sz="7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2" name=""/>
          <p:cNvSpPr/>
          <p:nvPr/>
        </p:nvSpPr>
        <p:spPr>
          <a:xfrm>
            <a:off x="11049120" y="6419880"/>
            <a:ext cx="456840" cy="2282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6E6E73"/>
                </a:solidFill>
                <a:effectLst/>
                <a:uFillTx/>
                <a:latin typeface="Avenir Next"/>
                <a:ea typeface="Avenir Next"/>
              </a:rPr>
              <a:t>14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BFBFD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4" name=""/>
          <p:cNvSpPr/>
          <p:nvPr/>
        </p:nvSpPr>
        <p:spPr>
          <a:xfrm>
            <a:off x="0" y="0"/>
            <a:ext cx="12191760" cy="56880"/>
          </a:xfrm>
          <a:prstGeom prst="rect">
            <a:avLst/>
          </a:prstGeom>
          <a:solidFill>
            <a:srgbClr val="0071E3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12240" rIns="90000" bIns="122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5" name=""/>
          <p:cNvSpPr/>
          <p:nvPr/>
        </p:nvSpPr>
        <p:spPr>
          <a:xfrm>
            <a:off x="552600" y="343080"/>
            <a:ext cx="85320" cy="85320"/>
          </a:xfrm>
          <a:prstGeom prst="ellipse">
            <a:avLst/>
          </a:prstGeom>
          <a:solidFill>
            <a:srgbClr val="FF9F0A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15840" rIns="90000" bIns="158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6" name=""/>
          <p:cNvSpPr/>
          <p:nvPr/>
        </p:nvSpPr>
        <p:spPr>
          <a:xfrm>
            <a:off x="723960" y="304920"/>
            <a:ext cx="3428640" cy="1900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6E6E73"/>
                </a:solidFill>
                <a:effectLst/>
                <a:uFillTx/>
                <a:latin typeface="Avenir Next"/>
                <a:ea typeface="Avenir Next"/>
              </a:rPr>
              <a:t>ORIGINAL POSTER APPENDIX</a:t>
            </a:r>
            <a:endParaRPr lang="en-US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7" name=""/>
          <p:cNvSpPr/>
          <p:nvPr/>
        </p:nvSpPr>
        <p:spPr>
          <a:xfrm>
            <a:off x="552600" y="590400"/>
            <a:ext cx="9429480" cy="2664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11111"/>
                </a:solidFill>
                <a:effectLst/>
                <a:uFillTx/>
                <a:latin typeface="Avenir Next"/>
                <a:ea typeface="Avenir Next"/>
              </a:rPr>
              <a:t>IP73-16: PSMA PET/CT and 11C-Choline after Lu-177 PSMA therapy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8" name=""/>
          <p:cNvSpPr/>
          <p:nvPr/>
        </p:nvSpPr>
        <p:spPr>
          <a:xfrm>
            <a:off x="552600" y="990720"/>
            <a:ext cx="8572320" cy="1519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90" b="0" u="none" strike="noStrike">
                <a:solidFill>
                  <a:srgbClr val="6E6E73"/>
                </a:solidFill>
                <a:effectLst/>
                <a:uFillTx/>
                <a:latin typeface="Avenir Next"/>
                <a:ea typeface="Avenir Next"/>
              </a:rPr>
              <a:t>Rendered from the original local poster PDF; included as source appendix for internal presentation use.</a:t>
            </a:r>
            <a:endParaRPr lang="en-US" sz="79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9" name=""/>
          <p:cNvSpPr/>
          <p:nvPr/>
        </p:nvSpPr>
        <p:spPr>
          <a:xfrm>
            <a:off x="561960" y="1314360"/>
            <a:ext cx="11162880" cy="4876560"/>
          </a:xfrm>
          <a:prstGeom prst="rect">
            <a:avLst/>
          </a:prstGeom>
          <a:solidFill>
            <a:srgbClr val="EEF2F8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0" name=""/>
          <p:cNvSpPr/>
          <p:nvPr/>
        </p:nvSpPr>
        <p:spPr>
          <a:xfrm>
            <a:off x="514440" y="1257480"/>
            <a:ext cx="11162880" cy="4876560"/>
          </a:xfrm>
          <a:prstGeom prst="rect">
            <a:avLst/>
          </a:prstGeom>
          <a:solidFill>
            <a:srgbClr val="FFFFFF"/>
          </a:solidFill>
          <a:ln w="9525">
            <a:solidFill>
              <a:srgbClr val="D2D2D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31" name=""/>
          <p:cNvPicPr/>
          <p:nvPr/>
        </p:nvPicPr>
        <p:blipFill>
          <a:blip r:embed="rId1"/>
          <a:stretch/>
        </p:blipFill>
        <p:spPr>
          <a:xfrm>
            <a:off x="1932480" y="1333440"/>
            <a:ext cx="8326800" cy="4686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2" name=""/>
          <p:cNvSpPr/>
          <p:nvPr/>
        </p:nvSpPr>
        <p:spPr>
          <a:xfrm>
            <a:off x="685800" y="6477120"/>
            <a:ext cx="8953200" cy="171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10" b="0" u="none" strike="noStrike">
                <a:solidFill>
                  <a:srgbClr val="6E6E73"/>
                </a:solidFill>
                <a:effectLst/>
                <a:uFillTx/>
                <a:latin typeface="Avenir Next"/>
                <a:ea typeface="Avenir Next"/>
              </a:rPr>
              <a:t>Source: scraper/data/posters/IP73-16.pdf</a:t>
            </a:r>
            <a:endParaRPr lang="en-US" sz="7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3" name=""/>
          <p:cNvSpPr/>
          <p:nvPr/>
        </p:nvSpPr>
        <p:spPr>
          <a:xfrm>
            <a:off x="11049120" y="6419880"/>
            <a:ext cx="456840" cy="2282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6E6E73"/>
                </a:solidFill>
                <a:effectLst/>
                <a:uFillTx/>
                <a:latin typeface="Avenir Next"/>
                <a:ea typeface="Avenir Next"/>
              </a:rPr>
              <a:t>15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BFBFD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5" name=""/>
          <p:cNvSpPr/>
          <p:nvPr/>
        </p:nvSpPr>
        <p:spPr>
          <a:xfrm>
            <a:off x="0" y="0"/>
            <a:ext cx="12191760" cy="56880"/>
          </a:xfrm>
          <a:prstGeom prst="rect">
            <a:avLst/>
          </a:prstGeom>
          <a:solidFill>
            <a:srgbClr val="0071E3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12240" rIns="90000" bIns="122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6" name=""/>
          <p:cNvSpPr/>
          <p:nvPr/>
        </p:nvSpPr>
        <p:spPr>
          <a:xfrm>
            <a:off x="552600" y="343080"/>
            <a:ext cx="85320" cy="85320"/>
          </a:xfrm>
          <a:prstGeom prst="ellipse">
            <a:avLst/>
          </a:prstGeom>
          <a:solidFill>
            <a:srgbClr val="FF9F0A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15840" rIns="90000" bIns="158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7" name=""/>
          <p:cNvSpPr/>
          <p:nvPr/>
        </p:nvSpPr>
        <p:spPr>
          <a:xfrm>
            <a:off x="723960" y="304920"/>
            <a:ext cx="3428640" cy="1900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6E6E73"/>
                </a:solidFill>
                <a:effectLst/>
                <a:uFillTx/>
                <a:latin typeface="Avenir Next"/>
                <a:ea typeface="Avenir Next"/>
              </a:rPr>
              <a:t>ORIGINAL POSTER APPENDIX</a:t>
            </a:r>
            <a:endParaRPr lang="en-US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8" name=""/>
          <p:cNvSpPr/>
          <p:nvPr/>
        </p:nvSpPr>
        <p:spPr>
          <a:xfrm>
            <a:off x="552600" y="590400"/>
            <a:ext cx="9429480" cy="2664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11111"/>
                </a:solidFill>
                <a:effectLst/>
                <a:uFillTx/>
                <a:latin typeface="Avenir Next"/>
                <a:ea typeface="Avenir Next"/>
              </a:rPr>
              <a:t>IP73-24: CGP landscape and BRCA1/2 pathogenic variants in mCRPC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9" name=""/>
          <p:cNvSpPr/>
          <p:nvPr/>
        </p:nvSpPr>
        <p:spPr>
          <a:xfrm>
            <a:off x="552600" y="990720"/>
            <a:ext cx="8572320" cy="1519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90" b="0" u="none" strike="noStrike">
                <a:solidFill>
                  <a:srgbClr val="6E6E73"/>
                </a:solidFill>
                <a:effectLst/>
                <a:uFillTx/>
                <a:latin typeface="Avenir Next"/>
                <a:ea typeface="Avenir Next"/>
              </a:rPr>
              <a:t>Rendered from the original local poster PDF; included as source appendix for internal presentation use.</a:t>
            </a:r>
            <a:endParaRPr lang="en-US" sz="79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0" name=""/>
          <p:cNvSpPr/>
          <p:nvPr/>
        </p:nvSpPr>
        <p:spPr>
          <a:xfrm>
            <a:off x="561960" y="1314360"/>
            <a:ext cx="11162880" cy="4876560"/>
          </a:xfrm>
          <a:prstGeom prst="rect">
            <a:avLst/>
          </a:prstGeom>
          <a:solidFill>
            <a:srgbClr val="EEF2F8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1" name=""/>
          <p:cNvSpPr/>
          <p:nvPr/>
        </p:nvSpPr>
        <p:spPr>
          <a:xfrm>
            <a:off x="514440" y="1257480"/>
            <a:ext cx="11162880" cy="4876560"/>
          </a:xfrm>
          <a:prstGeom prst="rect">
            <a:avLst/>
          </a:prstGeom>
          <a:solidFill>
            <a:srgbClr val="FFFFFF"/>
          </a:solidFill>
          <a:ln w="9525">
            <a:solidFill>
              <a:srgbClr val="D2D2D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42" name=""/>
          <p:cNvPicPr/>
          <p:nvPr/>
        </p:nvPicPr>
        <p:blipFill>
          <a:blip r:embed="rId1"/>
          <a:stretch/>
        </p:blipFill>
        <p:spPr>
          <a:xfrm>
            <a:off x="2971800" y="1333440"/>
            <a:ext cx="6248160" cy="4686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3" name=""/>
          <p:cNvSpPr/>
          <p:nvPr/>
        </p:nvSpPr>
        <p:spPr>
          <a:xfrm>
            <a:off x="685800" y="6477120"/>
            <a:ext cx="8953200" cy="171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10" b="0" u="none" strike="noStrike">
                <a:solidFill>
                  <a:srgbClr val="6E6E73"/>
                </a:solidFill>
                <a:effectLst/>
                <a:uFillTx/>
                <a:latin typeface="Avenir Next"/>
                <a:ea typeface="Avenir Next"/>
              </a:rPr>
              <a:t>Source: scraper/data/posters/IP73-24.pdf</a:t>
            </a:r>
            <a:endParaRPr lang="en-US" sz="7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4" name=""/>
          <p:cNvSpPr/>
          <p:nvPr/>
        </p:nvSpPr>
        <p:spPr>
          <a:xfrm>
            <a:off x="11049120" y="6419880"/>
            <a:ext cx="456840" cy="2282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6E6E73"/>
                </a:solidFill>
                <a:effectLst/>
                <a:uFillTx/>
                <a:latin typeface="Avenir Next"/>
                <a:ea typeface="Avenir Next"/>
              </a:rPr>
              <a:t>16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 pitchFamily="0" charset="1"/>
        <a:ea typeface="Calibri Light" pitchFamily="0" charset="1"/>
        <a:cs typeface="Calibri Light" pitchFamily="0" charset="1"/>
      </a:majorFont>
      <a:minorFont>
        <a:latin typeface="Calibri" pitchFamily="0" charset="1"/>
        <a:ea typeface="Calibri" pitchFamily="0" charset="1"/>
        <a:cs typeface="Calibri" pitchFamily="0" charset="1"/>
      </a:minorFont>
    </a:fontScheme>
    <a:fmtScheme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LibreOffice/26.2.1.2$MacOSX_AARCH64 LibreOffice_project/8399f6259d8c87f40e7255cdb3c9b958f5e08948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2026-05-17T01:31:25Z</dcterms:created>
  <dc:creator>Walnut Exporter</dc:creator>
  <dc:description/>
  <dc:language>zh-Hant</dc:language>
  <cp:lastModifiedBy>Walnut Exporter</cp:lastModifiedBy>
  <dcterms:modified xsi:type="dcterms:W3CDTF">2026-05-17T01:31:25Z</dcterms:modified>
  <cp:revision>0</cp:revision>
  <dc:subject/>
  <dc:title>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Converted Presentation</vt:lpwstr>
  </property>
</Properties>
</file>